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1430000" cy="6502400"/>
  <p:notesSz cx="11430000" cy="650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3D5D7D-6042-45F4-8DE6-D82381212E42}" v="12" dt="2025-11-10T13:34:40.53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3625" y="2482850"/>
            <a:ext cx="556768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E3C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873625" y="3230562"/>
            <a:ext cx="5873115" cy="67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74552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E3C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74552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E3C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E3C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539875"/>
            <a:ext cx="3585845" cy="796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E3C4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47767" y="2259964"/>
            <a:ext cx="5545455" cy="264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74552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25" dirty="0"/>
              <a:t>Fine-</a:t>
            </a:r>
            <a:r>
              <a:rPr spc="-160" dirty="0"/>
              <a:t>Grained</a:t>
            </a:r>
            <a:r>
              <a:rPr spc="-110" dirty="0"/>
              <a:t> </a:t>
            </a:r>
            <a:r>
              <a:rPr spc="-170" dirty="0"/>
              <a:t>RBAC</a:t>
            </a:r>
            <a:r>
              <a:rPr spc="-110" dirty="0"/>
              <a:t> </a:t>
            </a:r>
            <a:r>
              <a:rPr spc="-215" dirty="0"/>
              <a:t>in</a:t>
            </a:r>
            <a:r>
              <a:rPr spc="-114" dirty="0"/>
              <a:t> </a:t>
            </a:r>
            <a:r>
              <a:rPr spc="-105" dirty="0"/>
              <a:t>MERN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8800"/>
              </a:lnSpc>
              <a:spcBef>
                <a:spcPts val="90"/>
              </a:spcBef>
            </a:pPr>
            <a:r>
              <a:rPr sz="1650" dirty="0"/>
              <a:t>Implementing</a:t>
            </a:r>
            <a:r>
              <a:rPr sz="1650" spc="50" dirty="0"/>
              <a:t> </a:t>
            </a:r>
            <a:r>
              <a:rPr sz="1650" spc="-25" dirty="0"/>
              <a:t>Role-</a:t>
            </a:r>
            <a:r>
              <a:rPr sz="1650" dirty="0"/>
              <a:t>Based</a:t>
            </a:r>
            <a:r>
              <a:rPr sz="1650" spc="55" dirty="0"/>
              <a:t> </a:t>
            </a:r>
            <a:r>
              <a:rPr sz="1650" dirty="0"/>
              <a:t>Access</a:t>
            </a:r>
            <a:r>
              <a:rPr sz="1650" spc="55" dirty="0"/>
              <a:t> </a:t>
            </a:r>
            <a:r>
              <a:rPr sz="1650" dirty="0"/>
              <a:t>Control</a:t>
            </a:r>
            <a:r>
              <a:rPr sz="1650" spc="55" dirty="0"/>
              <a:t> </a:t>
            </a:r>
            <a:r>
              <a:rPr sz="1650" dirty="0"/>
              <a:t>for</a:t>
            </a:r>
            <a:r>
              <a:rPr sz="1650" spc="55" dirty="0"/>
              <a:t> </a:t>
            </a:r>
            <a:r>
              <a:rPr sz="1650" dirty="0"/>
              <a:t>secure,</a:t>
            </a:r>
            <a:r>
              <a:rPr sz="1650" spc="55" dirty="0"/>
              <a:t> </a:t>
            </a:r>
            <a:r>
              <a:rPr sz="1650" spc="-10" dirty="0"/>
              <a:t>scalable applications</a:t>
            </a:r>
            <a:endParaRPr sz="16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1428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7375" y="2892425"/>
            <a:ext cx="284416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The</a:t>
            </a:r>
            <a:r>
              <a:rPr spc="-130" dirty="0"/>
              <a:t> </a:t>
            </a:r>
            <a:r>
              <a:rPr spc="-125" dirty="0"/>
              <a:t>Challenge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7375" y="3669665"/>
            <a:ext cx="1020191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Building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applications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requires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sophisticated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control.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Without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proper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role-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based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permissions,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risk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unauthorized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data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access, security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vulnerabilities,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poor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experience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across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different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types.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0075" y="4419600"/>
            <a:ext cx="3295650" cy="1247775"/>
            <a:chOff x="600075" y="4419600"/>
            <a:chExt cx="3295650" cy="1247775"/>
          </a:xfrm>
        </p:grpSpPr>
        <p:sp>
          <p:nvSpPr>
            <p:cNvPr id="6" name="object 6"/>
            <p:cNvSpPr/>
            <p:nvPr/>
          </p:nvSpPr>
          <p:spPr>
            <a:xfrm>
              <a:off x="604837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3238207" y="0"/>
                  </a:moveTo>
                  <a:lnTo>
                    <a:pt x="47917" y="0"/>
                  </a:lnTo>
                  <a:lnTo>
                    <a:pt x="40873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190327"/>
                  </a:lnTo>
                  <a:lnTo>
                    <a:pt x="21361" y="1227247"/>
                  </a:lnTo>
                  <a:lnTo>
                    <a:pt x="47917" y="1238251"/>
                  </a:lnTo>
                  <a:lnTo>
                    <a:pt x="3238207" y="1238251"/>
                  </a:lnTo>
                  <a:lnTo>
                    <a:pt x="3275126" y="1216888"/>
                  </a:lnTo>
                  <a:lnTo>
                    <a:pt x="3286124" y="1190327"/>
                  </a:lnTo>
                  <a:lnTo>
                    <a:pt x="3286124" y="47917"/>
                  </a:lnTo>
                  <a:lnTo>
                    <a:pt x="3264763" y="10998"/>
                  </a:lnTo>
                  <a:lnTo>
                    <a:pt x="3238207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9599" y="4429126"/>
              <a:ext cx="3276599" cy="122872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4837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0" y="11830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81921" y="34099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183006"/>
                  </a:lnTo>
                  <a:lnTo>
                    <a:pt x="3286125" y="1186632"/>
                  </a:lnTo>
                  <a:lnTo>
                    <a:pt x="3285769" y="1190223"/>
                  </a:lnTo>
                  <a:lnTo>
                    <a:pt x="3285058" y="1193780"/>
                  </a:lnTo>
                  <a:lnTo>
                    <a:pt x="3284359" y="1197338"/>
                  </a:lnTo>
                  <a:lnTo>
                    <a:pt x="3261575" y="1228939"/>
                  </a:lnTo>
                  <a:lnTo>
                    <a:pt x="3252012" y="1234043"/>
                  </a:lnTo>
                  <a:lnTo>
                    <a:pt x="3248672" y="1235433"/>
                  </a:lnTo>
                  <a:lnTo>
                    <a:pt x="3230880" y="1238251"/>
                  </a:lnTo>
                  <a:lnTo>
                    <a:pt x="55245" y="1238251"/>
                  </a:lnTo>
                  <a:lnTo>
                    <a:pt x="18747" y="1224633"/>
                  </a:lnTo>
                  <a:lnTo>
                    <a:pt x="9311" y="1213694"/>
                  </a:lnTo>
                  <a:lnTo>
                    <a:pt x="7292" y="1210678"/>
                  </a:lnTo>
                  <a:lnTo>
                    <a:pt x="5590" y="1207498"/>
                  </a:lnTo>
                  <a:lnTo>
                    <a:pt x="4207" y="1204144"/>
                  </a:lnTo>
                  <a:lnTo>
                    <a:pt x="2818" y="1200791"/>
                  </a:lnTo>
                  <a:lnTo>
                    <a:pt x="1771" y="1197338"/>
                  </a:lnTo>
                  <a:lnTo>
                    <a:pt x="1061" y="1193780"/>
                  </a:lnTo>
                  <a:lnTo>
                    <a:pt x="351" y="1190223"/>
                  </a:lnTo>
                  <a:lnTo>
                    <a:pt x="0" y="1186632"/>
                  </a:lnTo>
                  <a:lnTo>
                    <a:pt x="0" y="1183006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68350" y="4583112"/>
            <a:ext cx="2379345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374552"/>
                </a:solidFill>
                <a:latin typeface="Verdana"/>
                <a:cs typeface="Verdana"/>
              </a:rPr>
              <a:t>Admin</a:t>
            </a:r>
            <a:r>
              <a:rPr sz="16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374552"/>
                </a:solidFill>
                <a:latin typeface="Verdana"/>
                <a:cs typeface="Verdana"/>
              </a:rPr>
              <a:t>Users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Full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system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access,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user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management,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security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controls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5" y="4419600"/>
            <a:ext cx="3295650" cy="1247775"/>
            <a:chOff x="4067175" y="4419600"/>
            <a:chExt cx="3295650" cy="1247775"/>
          </a:xfrm>
        </p:grpSpPr>
        <p:sp>
          <p:nvSpPr>
            <p:cNvPr id="11" name="object 11"/>
            <p:cNvSpPr/>
            <p:nvPr/>
          </p:nvSpPr>
          <p:spPr>
            <a:xfrm>
              <a:off x="4071937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3238207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190327"/>
                  </a:lnTo>
                  <a:lnTo>
                    <a:pt x="21361" y="1227247"/>
                  </a:lnTo>
                  <a:lnTo>
                    <a:pt x="47917" y="1238251"/>
                  </a:lnTo>
                  <a:lnTo>
                    <a:pt x="3238207" y="1238251"/>
                  </a:lnTo>
                  <a:lnTo>
                    <a:pt x="3275126" y="1216888"/>
                  </a:lnTo>
                  <a:lnTo>
                    <a:pt x="3286124" y="1190327"/>
                  </a:lnTo>
                  <a:lnTo>
                    <a:pt x="3286124" y="47917"/>
                  </a:lnTo>
                  <a:lnTo>
                    <a:pt x="3264763" y="10998"/>
                  </a:lnTo>
                  <a:lnTo>
                    <a:pt x="3238207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76699" y="4429126"/>
              <a:ext cx="3276599" cy="1228724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071937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0" y="11830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183006"/>
                  </a:lnTo>
                  <a:lnTo>
                    <a:pt x="3286125" y="1186632"/>
                  </a:lnTo>
                  <a:lnTo>
                    <a:pt x="3285769" y="1190223"/>
                  </a:lnTo>
                  <a:lnTo>
                    <a:pt x="3285058" y="1193780"/>
                  </a:lnTo>
                  <a:lnTo>
                    <a:pt x="3284359" y="1197338"/>
                  </a:lnTo>
                  <a:lnTo>
                    <a:pt x="3261575" y="1228939"/>
                  </a:lnTo>
                  <a:lnTo>
                    <a:pt x="3252012" y="1234043"/>
                  </a:lnTo>
                  <a:lnTo>
                    <a:pt x="3248672" y="1235433"/>
                  </a:lnTo>
                  <a:lnTo>
                    <a:pt x="3230880" y="1238251"/>
                  </a:lnTo>
                  <a:lnTo>
                    <a:pt x="55245" y="1238251"/>
                  </a:lnTo>
                  <a:lnTo>
                    <a:pt x="34099" y="1234043"/>
                  </a:lnTo>
                  <a:lnTo>
                    <a:pt x="30746" y="1232655"/>
                  </a:lnTo>
                  <a:lnTo>
                    <a:pt x="4203" y="1204144"/>
                  </a:lnTo>
                  <a:lnTo>
                    <a:pt x="2819" y="1200791"/>
                  </a:lnTo>
                  <a:lnTo>
                    <a:pt x="1765" y="1197338"/>
                  </a:lnTo>
                  <a:lnTo>
                    <a:pt x="1066" y="1193780"/>
                  </a:lnTo>
                  <a:lnTo>
                    <a:pt x="355" y="1190223"/>
                  </a:lnTo>
                  <a:lnTo>
                    <a:pt x="0" y="1186632"/>
                  </a:lnTo>
                  <a:lnTo>
                    <a:pt x="0" y="1183006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235450" y="4583112"/>
            <a:ext cx="2806065" cy="8839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Editors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Create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modify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content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they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own,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limited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visibility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534275" y="4419600"/>
            <a:ext cx="3295650" cy="1247775"/>
            <a:chOff x="7534275" y="4419600"/>
            <a:chExt cx="3295650" cy="1247775"/>
          </a:xfrm>
        </p:grpSpPr>
        <p:sp>
          <p:nvSpPr>
            <p:cNvPr id="16" name="object 16"/>
            <p:cNvSpPr/>
            <p:nvPr/>
          </p:nvSpPr>
          <p:spPr>
            <a:xfrm>
              <a:off x="7539036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3238207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1190327"/>
                  </a:lnTo>
                  <a:lnTo>
                    <a:pt x="21361" y="1227247"/>
                  </a:lnTo>
                  <a:lnTo>
                    <a:pt x="47917" y="1238251"/>
                  </a:lnTo>
                  <a:lnTo>
                    <a:pt x="3238207" y="1238251"/>
                  </a:lnTo>
                  <a:lnTo>
                    <a:pt x="3275126" y="1216888"/>
                  </a:lnTo>
                  <a:lnTo>
                    <a:pt x="3286124" y="1190327"/>
                  </a:lnTo>
                  <a:lnTo>
                    <a:pt x="3286124" y="47917"/>
                  </a:lnTo>
                  <a:lnTo>
                    <a:pt x="3264763" y="10998"/>
                  </a:lnTo>
                  <a:lnTo>
                    <a:pt x="3238207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3799" y="4429126"/>
              <a:ext cx="3276599" cy="122872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539037" y="4424362"/>
              <a:ext cx="3286125" cy="1238250"/>
            </a:xfrm>
            <a:custGeom>
              <a:avLst/>
              <a:gdLst/>
              <a:ahLst/>
              <a:cxnLst/>
              <a:rect l="l" t="t" r="r" b="b"/>
              <a:pathLst>
                <a:path w="3286125" h="1238250">
                  <a:moveTo>
                    <a:pt x="0" y="1183006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58553" y="7289"/>
                  </a:lnTo>
                  <a:lnTo>
                    <a:pt x="3261563" y="9309"/>
                  </a:lnTo>
                  <a:lnTo>
                    <a:pt x="3264585" y="11328"/>
                  </a:lnTo>
                  <a:lnTo>
                    <a:pt x="3267379" y="13614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183006"/>
                  </a:lnTo>
                  <a:lnTo>
                    <a:pt x="3286125" y="1186632"/>
                  </a:lnTo>
                  <a:lnTo>
                    <a:pt x="3285769" y="1190223"/>
                  </a:lnTo>
                  <a:lnTo>
                    <a:pt x="3285058" y="1193780"/>
                  </a:lnTo>
                  <a:lnTo>
                    <a:pt x="3284359" y="1197338"/>
                  </a:lnTo>
                  <a:lnTo>
                    <a:pt x="3261563" y="1228939"/>
                  </a:lnTo>
                  <a:lnTo>
                    <a:pt x="3258553" y="1230953"/>
                  </a:lnTo>
                  <a:lnTo>
                    <a:pt x="3255378" y="1232655"/>
                  </a:lnTo>
                  <a:lnTo>
                    <a:pt x="3252012" y="1234043"/>
                  </a:lnTo>
                  <a:lnTo>
                    <a:pt x="3248672" y="1235433"/>
                  </a:lnTo>
                  <a:lnTo>
                    <a:pt x="3230880" y="1238251"/>
                  </a:lnTo>
                  <a:lnTo>
                    <a:pt x="55245" y="1238251"/>
                  </a:lnTo>
                  <a:lnTo>
                    <a:pt x="34099" y="1234043"/>
                  </a:lnTo>
                  <a:lnTo>
                    <a:pt x="30746" y="1232655"/>
                  </a:lnTo>
                  <a:lnTo>
                    <a:pt x="4203" y="1204144"/>
                  </a:lnTo>
                  <a:lnTo>
                    <a:pt x="2819" y="1200791"/>
                  </a:lnTo>
                  <a:lnTo>
                    <a:pt x="1765" y="1197338"/>
                  </a:lnTo>
                  <a:lnTo>
                    <a:pt x="1066" y="1193780"/>
                  </a:lnTo>
                  <a:lnTo>
                    <a:pt x="355" y="1190223"/>
                  </a:lnTo>
                  <a:lnTo>
                    <a:pt x="0" y="1186632"/>
                  </a:lnTo>
                  <a:lnTo>
                    <a:pt x="0" y="1183006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702550" y="4583112"/>
            <a:ext cx="295846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Viewers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Read-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only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published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content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95" dirty="0"/>
              <a:t>Our</a:t>
            </a:r>
            <a:r>
              <a:rPr spc="-140" dirty="0"/>
              <a:t> </a:t>
            </a:r>
            <a:r>
              <a:rPr spc="-120" dirty="0"/>
              <a:t>Mission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7375" y="2650489"/>
            <a:ext cx="9599930" cy="53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Implement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comprehensive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role-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based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control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throughout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MERN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stack,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ensuring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secure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API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endpoints,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UI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components,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granular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enforcement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every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layer.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0075" y="3409950"/>
            <a:ext cx="390525" cy="381000"/>
            <a:chOff x="600075" y="3409950"/>
            <a:chExt cx="390525" cy="381000"/>
          </a:xfrm>
        </p:grpSpPr>
        <p:sp>
          <p:nvSpPr>
            <p:cNvPr id="5" name="object 5"/>
            <p:cNvSpPr/>
            <p:nvPr/>
          </p:nvSpPr>
          <p:spPr>
            <a:xfrm>
              <a:off x="604837" y="3414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73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599" y="3419475"/>
              <a:ext cx="371474" cy="36194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04837" y="3414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086225" y="3409950"/>
            <a:ext cx="381000" cy="381000"/>
            <a:chOff x="4086225" y="3409950"/>
            <a:chExt cx="381000" cy="381000"/>
          </a:xfrm>
        </p:grpSpPr>
        <p:sp>
          <p:nvSpPr>
            <p:cNvPr id="9" name="object 9"/>
            <p:cNvSpPr/>
            <p:nvPr/>
          </p:nvSpPr>
          <p:spPr>
            <a:xfrm>
              <a:off x="4090987" y="3414712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323557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23557" y="371474"/>
                  </a:lnTo>
                  <a:lnTo>
                    <a:pt x="360476" y="350113"/>
                  </a:lnTo>
                  <a:lnTo>
                    <a:pt x="371474" y="323557"/>
                  </a:lnTo>
                  <a:lnTo>
                    <a:pt x="371474" y="47917"/>
                  </a:lnTo>
                  <a:lnTo>
                    <a:pt x="350113" y="10998"/>
                  </a:lnTo>
                  <a:lnTo>
                    <a:pt x="323557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95749" y="3419475"/>
              <a:ext cx="361949" cy="3619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90987" y="3414712"/>
              <a:ext cx="371475" cy="371475"/>
            </a:xfrm>
            <a:custGeom>
              <a:avLst/>
              <a:gdLst/>
              <a:ahLst/>
              <a:cxnLst/>
              <a:rect l="l" t="t" r="r" b="b"/>
              <a:pathLst>
                <a:path w="371475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16230" y="0"/>
                  </a:lnTo>
                  <a:lnTo>
                    <a:pt x="319862" y="0"/>
                  </a:lnTo>
                  <a:lnTo>
                    <a:pt x="323443" y="355"/>
                  </a:lnTo>
                  <a:lnTo>
                    <a:pt x="326999" y="1066"/>
                  </a:lnTo>
                  <a:lnTo>
                    <a:pt x="330568" y="1765"/>
                  </a:lnTo>
                  <a:lnTo>
                    <a:pt x="334022" y="2819"/>
                  </a:lnTo>
                  <a:lnTo>
                    <a:pt x="337362" y="4203"/>
                  </a:lnTo>
                  <a:lnTo>
                    <a:pt x="340728" y="5588"/>
                  </a:lnTo>
                  <a:lnTo>
                    <a:pt x="367271" y="34099"/>
                  </a:lnTo>
                  <a:lnTo>
                    <a:pt x="370408" y="44462"/>
                  </a:lnTo>
                  <a:lnTo>
                    <a:pt x="371119" y="48018"/>
                  </a:lnTo>
                  <a:lnTo>
                    <a:pt x="371475" y="51612"/>
                  </a:lnTo>
                  <a:lnTo>
                    <a:pt x="371475" y="55245"/>
                  </a:lnTo>
                  <a:lnTo>
                    <a:pt x="371475" y="316230"/>
                  </a:lnTo>
                  <a:lnTo>
                    <a:pt x="371475" y="319862"/>
                  </a:lnTo>
                  <a:lnTo>
                    <a:pt x="371119" y="323443"/>
                  </a:lnTo>
                  <a:lnTo>
                    <a:pt x="370408" y="327012"/>
                  </a:lnTo>
                  <a:lnTo>
                    <a:pt x="369709" y="330568"/>
                  </a:lnTo>
                  <a:lnTo>
                    <a:pt x="346925" y="362165"/>
                  </a:lnTo>
                  <a:lnTo>
                    <a:pt x="326999" y="370408"/>
                  </a:lnTo>
                  <a:lnTo>
                    <a:pt x="323443" y="371119"/>
                  </a:lnTo>
                  <a:lnTo>
                    <a:pt x="319862" y="371475"/>
                  </a:lnTo>
                  <a:lnTo>
                    <a:pt x="316230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6615" y="3407968"/>
            <a:ext cx="3674110" cy="1192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0375" algn="l"/>
                <a:tab pos="3493770" algn="l"/>
              </a:tabLst>
            </a:pP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1</a:t>
            </a:r>
            <a:r>
              <a:rPr sz="2000" dirty="0">
                <a:solidFill>
                  <a:srgbClr val="374552"/>
                </a:solidFill>
                <a:latin typeface="Verdana"/>
                <a:cs typeface="Verdana"/>
              </a:rPr>
              <a:t>	</a:t>
            </a:r>
            <a:r>
              <a:rPr sz="1650" spc="-65" dirty="0">
                <a:solidFill>
                  <a:srgbClr val="374552"/>
                </a:solidFill>
                <a:latin typeface="Verdana"/>
                <a:cs typeface="Verdana"/>
              </a:rPr>
              <a:t>Enforce</a:t>
            </a:r>
            <a:r>
              <a:rPr sz="16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60" dirty="0">
                <a:solidFill>
                  <a:srgbClr val="374552"/>
                </a:solidFill>
                <a:latin typeface="Verdana"/>
                <a:cs typeface="Verdana"/>
              </a:rPr>
              <a:t>Fine-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Grained</a:t>
            </a:r>
            <a:r>
              <a:rPr sz="1650" dirty="0">
                <a:solidFill>
                  <a:srgbClr val="374552"/>
                </a:solidFill>
                <a:latin typeface="Verdana"/>
                <a:cs typeface="Verdana"/>
              </a:rPr>
              <a:t>	</a:t>
            </a: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  <a:p>
            <a:pPr marL="460375">
              <a:lnSpc>
                <a:spcPct val="100000"/>
              </a:lnSpc>
              <a:spcBef>
                <a:spcPts val="40"/>
              </a:spcBef>
            </a:pP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Permissions</a:t>
            </a:r>
            <a:endParaRPr sz="1650">
              <a:latin typeface="Verdana"/>
              <a:cs typeface="Verdana"/>
            </a:endParaRPr>
          </a:p>
          <a:p>
            <a:pPr marL="460375" marR="552450">
              <a:lnSpc>
                <a:spcPct val="125000"/>
              </a:lnSpc>
              <a:spcBef>
                <a:spcPts val="69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Control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resource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role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action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level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25980" y="3449640"/>
            <a:ext cx="2656205" cy="11506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730885">
              <a:lnSpc>
                <a:spcPct val="106100"/>
              </a:lnSpc>
              <a:spcBef>
                <a:spcPts val="15"/>
              </a:spcBef>
            </a:pPr>
            <a:r>
              <a:rPr sz="1650" spc="-50" dirty="0">
                <a:solidFill>
                  <a:srgbClr val="374552"/>
                </a:solidFill>
                <a:latin typeface="Verdana"/>
                <a:cs typeface="Verdana"/>
              </a:rPr>
              <a:t>Verify</a:t>
            </a:r>
            <a:r>
              <a:rPr sz="165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374552"/>
                </a:solidFill>
                <a:latin typeface="Verdana"/>
                <a:cs typeface="Verdana"/>
              </a:rPr>
              <a:t>Ownership</a:t>
            </a:r>
            <a:r>
              <a:rPr sz="1650" spc="-7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185" dirty="0">
                <a:solidFill>
                  <a:srgbClr val="374552"/>
                </a:solidFill>
                <a:latin typeface="Verdana"/>
                <a:cs typeface="Verdana"/>
              </a:rPr>
              <a:t>F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Authority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Ensure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users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can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only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their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own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or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authorized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data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62850" y="3409950"/>
            <a:ext cx="390525" cy="381000"/>
            <a:chOff x="7562850" y="3409950"/>
            <a:chExt cx="390525" cy="381000"/>
          </a:xfrm>
        </p:grpSpPr>
        <p:sp>
          <p:nvSpPr>
            <p:cNvPr id="15" name="object 15"/>
            <p:cNvSpPr/>
            <p:nvPr/>
          </p:nvSpPr>
          <p:spPr>
            <a:xfrm>
              <a:off x="7567611" y="3414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33082" y="0"/>
                  </a:moveTo>
                  <a:lnTo>
                    <a:pt x="47917" y="0"/>
                  </a:lnTo>
                  <a:lnTo>
                    <a:pt x="40868" y="1396"/>
                  </a:lnTo>
                  <a:lnTo>
                    <a:pt x="7010" y="27330"/>
                  </a:lnTo>
                  <a:lnTo>
                    <a:pt x="0" y="47917"/>
                  </a:lnTo>
                  <a:lnTo>
                    <a:pt x="0" y="323557"/>
                  </a:lnTo>
                  <a:lnTo>
                    <a:pt x="21361" y="360476"/>
                  </a:lnTo>
                  <a:lnTo>
                    <a:pt x="47917" y="371474"/>
                  </a:lnTo>
                  <a:lnTo>
                    <a:pt x="333082" y="371474"/>
                  </a:lnTo>
                  <a:lnTo>
                    <a:pt x="370001" y="350113"/>
                  </a:lnTo>
                  <a:lnTo>
                    <a:pt x="380999" y="323557"/>
                  </a:lnTo>
                  <a:lnTo>
                    <a:pt x="380999" y="47917"/>
                  </a:lnTo>
                  <a:lnTo>
                    <a:pt x="359638" y="10998"/>
                  </a:lnTo>
                  <a:lnTo>
                    <a:pt x="333082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72374" y="3419475"/>
              <a:ext cx="371474" cy="3619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567612" y="3414712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900" y="4203"/>
                  </a:lnTo>
                  <a:lnTo>
                    <a:pt x="350253" y="5588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659395" y="3450831"/>
            <a:ext cx="3131820" cy="882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90"/>
              </a:lnSpc>
              <a:tabLst>
                <a:tab pos="460375" algn="l"/>
              </a:tabLst>
            </a:pP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3</a:t>
            </a:r>
            <a:r>
              <a:rPr sz="2000" dirty="0">
                <a:solidFill>
                  <a:srgbClr val="374552"/>
                </a:solidFill>
                <a:latin typeface="Verdana"/>
                <a:cs typeface="Verdana"/>
              </a:rPr>
              <a:t>	</a:t>
            </a:r>
            <a:r>
              <a:rPr sz="1650" spc="-85" dirty="0">
                <a:solidFill>
                  <a:srgbClr val="374552"/>
                </a:solidFill>
                <a:latin typeface="Verdana"/>
                <a:cs typeface="Verdana"/>
              </a:rPr>
              <a:t>Secure</a:t>
            </a:r>
            <a:r>
              <a:rPr sz="1650" spc="-5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70" dirty="0">
                <a:solidFill>
                  <a:srgbClr val="374552"/>
                </a:solidFill>
                <a:latin typeface="Verdana"/>
                <a:cs typeface="Verdana"/>
              </a:rPr>
              <a:t>Authentication</a:t>
            </a:r>
            <a:r>
              <a:rPr sz="16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374552"/>
                </a:solidFill>
                <a:latin typeface="Verdana"/>
                <a:cs typeface="Verdana"/>
              </a:rPr>
              <a:t>Flow</a:t>
            </a:r>
            <a:endParaRPr sz="1650">
              <a:latin typeface="Verdana"/>
              <a:cs typeface="Verdana"/>
            </a:endParaRPr>
          </a:p>
          <a:p>
            <a:pPr marL="460375" marR="214629">
              <a:lnSpc>
                <a:spcPct val="125000"/>
              </a:lnSpc>
              <a:spcBef>
                <a:spcPts val="61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Implement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0" dirty="0">
                <a:solidFill>
                  <a:srgbClr val="374552"/>
                </a:solidFill>
                <a:latin typeface="Roboto"/>
                <a:cs typeface="Roboto"/>
              </a:rPr>
              <a:t>JWT-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based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auth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with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role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claims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token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validation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3"/>
            <a:ext cx="4286250" cy="643864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168400"/>
            <a:ext cx="270954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Core</a:t>
            </a:r>
            <a:r>
              <a:rPr spc="-130" dirty="0"/>
              <a:t> </a:t>
            </a:r>
            <a:r>
              <a:rPr spc="-210" dirty="0"/>
              <a:t>Features</a:t>
            </a:r>
          </a:p>
        </p:txBody>
      </p:sp>
      <p:sp>
        <p:nvSpPr>
          <p:cNvPr id="6" name="object 6"/>
          <p:cNvSpPr/>
          <p:nvPr/>
        </p:nvSpPr>
        <p:spPr>
          <a:xfrm>
            <a:off x="638175" y="2714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8175" y="3286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8175" y="3857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175" y="4181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7375" y="2144712"/>
            <a:ext cx="2558415" cy="24174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2E3C4E"/>
                </a:solidFill>
                <a:latin typeface="Verdana"/>
                <a:cs typeface="Verdana"/>
              </a:rPr>
              <a:t>Backend</a:t>
            </a:r>
            <a:r>
              <a:rPr sz="1650" spc="-25" dirty="0">
                <a:solidFill>
                  <a:srgbClr val="2E3C4E"/>
                </a:solidFill>
                <a:latin typeface="Verdana"/>
                <a:cs typeface="Verdana"/>
              </a:rPr>
              <a:t> Implementation</a:t>
            </a:r>
            <a:endParaRPr sz="1650">
              <a:latin typeface="Verdana"/>
              <a:cs typeface="Verdana"/>
            </a:endParaRPr>
          </a:p>
          <a:p>
            <a:pPr marL="286385" marR="314960">
              <a:lnSpc>
                <a:spcPct val="125000"/>
              </a:lnSpc>
              <a:spcBef>
                <a:spcPts val="1215"/>
              </a:spcBef>
            </a:pP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Role-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 matrix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in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MongoDB</a:t>
            </a:r>
            <a:endParaRPr sz="1350">
              <a:latin typeface="Roboto"/>
              <a:cs typeface="Roboto"/>
            </a:endParaRPr>
          </a:p>
          <a:p>
            <a:pPr marL="286385" marR="90805">
              <a:lnSpc>
                <a:spcPct val="125000"/>
              </a:lnSpc>
              <a:spcBef>
                <a:spcPts val="45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Express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middleware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auth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checks</a:t>
            </a:r>
            <a:endParaRPr sz="1350">
              <a:latin typeface="Roboto"/>
              <a:cs typeface="Roboto"/>
            </a:endParaRPr>
          </a:p>
          <a:p>
            <a:pPr marL="286385">
              <a:lnSpc>
                <a:spcPct val="100000"/>
              </a:lnSpc>
              <a:spcBef>
                <a:spcPts val="85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Query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filters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data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isolation</a:t>
            </a:r>
            <a:endParaRPr sz="1350">
              <a:latin typeface="Roboto"/>
              <a:cs typeface="Roboto"/>
            </a:endParaRPr>
          </a:p>
          <a:p>
            <a:pPr marL="286385" marR="435609">
              <a:lnSpc>
                <a:spcPct val="125000"/>
              </a:lnSpc>
              <a:spcBef>
                <a:spcPts val="52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Ownership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validation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on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mutations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29050" y="271462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829050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29050" y="33432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29050" y="36671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77805" y="2144712"/>
            <a:ext cx="2480310" cy="1903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90" dirty="0">
                <a:solidFill>
                  <a:srgbClr val="2E3C4E"/>
                </a:solidFill>
                <a:latin typeface="Verdana"/>
                <a:cs typeface="Verdana"/>
              </a:rPr>
              <a:t>Frontend</a:t>
            </a:r>
            <a:r>
              <a:rPr sz="1650" spc="-20" dirty="0">
                <a:solidFill>
                  <a:srgbClr val="2E3C4E"/>
                </a:solidFill>
                <a:latin typeface="Verdana"/>
                <a:cs typeface="Verdana"/>
              </a:rPr>
              <a:t> </a:t>
            </a:r>
            <a:r>
              <a:rPr sz="1650" spc="-85" dirty="0">
                <a:solidFill>
                  <a:srgbClr val="2E3C4E"/>
                </a:solidFill>
                <a:latin typeface="Verdana"/>
                <a:cs typeface="Verdana"/>
              </a:rPr>
              <a:t>Implementation</a:t>
            </a:r>
            <a:endParaRPr sz="1650">
              <a:latin typeface="Verdana"/>
              <a:cs typeface="Verdana"/>
            </a:endParaRPr>
          </a:p>
          <a:p>
            <a:pPr marL="286385" marR="5080">
              <a:lnSpc>
                <a:spcPct val="152800"/>
              </a:lnSpc>
              <a:spcBef>
                <a:spcPts val="76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Protected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route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components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UI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element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visibility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guards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Admin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 dashboard interface</a:t>
            </a:r>
            <a:endParaRPr sz="1350">
              <a:latin typeface="Roboto"/>
              <a:cs typeface="Roboto"/>
            </a:endParaRPr>
          </a:p>
          <a:p>
            <a:pPr marL="286385" marR="153035">
              <a:lnSpc>
                <a:spcPct val="125000"/>
              </a:lnSpc>
              <a:spcBef>
                <a:spcPts val="52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Graceful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denial handling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7375" y="4777232"/>
            <a:ext cx="5700395" cy="444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0"/>
              </a:spcBef>
            </a:pP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Additional layers: comprehensive unit</a:t>
            </a:r>
            <a:r>
              <a:rPr sz="1050" spc="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testing, security auditing,</a:t>
            </a:r>
            <a:r>
              <a:rPr sz="1050" spc="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and monitoring for </a:t>
            </a:r>
            <a:r>
              <a:rPr sz="1050" spc="-10" dirty="0">
                <a:solidFill>
                  <a:srgbClr val="374552"/>
                </a:solidFill>
                <a:latin typeface="Roboto"/>
                <a:cs typeface="Roboto"/>
              </a:rPr>
              <a:t>suspicious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050" spc="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Roboto"/>
                <a:cs typeface="Roboto"/>
              </a:rPr>
              <a:t>patterns</a:t>
            </a:r>
            <a:endParaRPr sz="1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777875"/>
            <a:ext cx="39820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0" dirty="0"/>
              <a:t>System</a:t>
            </a:r>
            <a:r>
              <a:rPr spc="-95" dirty="0"/>
              <a:t> </a:t>
            </a:r>
            <a:r>
              <a:rPr spc="-145" dirty="0"/>
              <a:t>Architecture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73625" y="1545589"/>
            <a:ext cx="56502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Our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architecture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layers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role-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based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control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throughout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entire application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stack.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JWT</a:t>
            </a:r>
            <a:r>
              <a:rPr sz="1350" spc="-7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tokens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carry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role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information,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backend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middleware validates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permissions,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frontend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guards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UI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components.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880927" y="2547302"/>
            <a:ext cx="868044" cy="1039494"/>
            <a:chOff x="4880927" y="2547302"/>
            <a:chExt cx="868044" cy="1039494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6325" y="2552699"/>
              <a:ext cx="857250" cy="10287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86325" y="255269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218607" y="2882900"/>
            <a:ext cx="1930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2323" y="2706687"/>
            <a:ext cx="327469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55" dirty="0">
                <a:solidFill>
                  <a:srgbClr val="374552"/>
                </a:solidFill>
                <a:latin typeface="Verdana"/>
                <a:cs typeface="Verdana"/>
              </a:rPr>
              <a:t>React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Frontend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Protected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routes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conditional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rendering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880927" y="3576002"/>
            <a:ext cx="868044" cy="1039494"/>
            <a:chOff x="4880927" y="3576002"/>
            <a:chExt cx="868044" cy="103949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6325" y="3581399"/>
              <a:ext cx="857250" cy="10287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886325" y="358139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218607" y="3911600"/>
            <a:ext cx="1930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2323" y="3735387"/>
            <a:ext cx="326453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5" dirty="0">
                <a:solidFill>
                  <a:srgbClr val="374552"/>
                </a:solidFill>
                <a:latin typeface="Verdana"/>
                <a:cs typeface="Verdana"/>
              </a:rPr>
              <a:t>Express</a:t>
            </a:r>
            <a:r>
              <a:rPr sz="16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10" dirty="0">
                <a:solidFill>
                  <a:srgbClr val="374552"/>
                </a:solidFill>
                <a:latin typeface="Verdana"/>
                <a:cs typeface="Verdana"/>
              </a:rPr>
              <a:t>API</a:t>
            </a:r>
            <a:r>
              <a:rPr sz="16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20" dirty="0">
                <a:solidFill>
                  <a:srgbClr val="374552"/>
                </a:solidFill>
                <a:latin typeface="Verdana"/>
                <a:cs typeface="Verdana"/>
              </a:rPr>
              <a:t>Layer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Authentication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&amp;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authorization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 middleware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80967" y="4604742"/>
            <a:ext cx="868044" cy="1039494"/>
            <a:chOff x="4880967" y="4604742"/>
            <a:chExt cx="868044" cy="1039494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6325" y="4610100"/>
              <a:ext cx="857250" cy="10287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86325" y="461010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1"/>
                  </a:moveTo>
                  <a:lnTo>
                    <a:pt x="428625" y="1028701"/>
                  </a:lnTo>
                  <a:lnTo>
                    <a:pt x="857250" y="857251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1"/>
                  </a:lnTo>
                  <a:close/>
                </a:path>
              </a:pathLst>
            </a:custGeom>
            <a:ln w="1071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218607" y="4940301"/>
            <a:ext cx="193040" cy="334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0" dirty="0">
                <a:solidFill>
                  <a:srgbClr val="374552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02323" y="4764088"/>
            <a:ext cx="3163570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40" dirty="0">
                <a:solidFill>
                  <a:srgbClr val="374552"/>
                </a:solidFill>
                <a:latin typeface="Verdana"/>
                <a:cs typeface="Verdana"/>
              </a:rPr>
              <a:t>MongoDB</a:t>
            </a:r>
            <a:r>
              <a:rPr sz="1650" spc="-10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Database</a:t>
            </a:r>
            <a:endParaRPr sz="1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Role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schemas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definitions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0654030" cy="6436995"/>
          </a:xfrm>
          <a:custGeom>
            <a:avLst/>
            <a:gdLst/>
            <a:ahLst/>
            <a:cxnLst/>
            <a:rect l="l" t="t" r="r" b="b"/>
            <a:pathLst>
              <a:path w="10654030" h="6436995">
                <a:moveTo>
                  <a:pt x="10653545" y="0"/>
                </a:moveTo>
                <a:lnTo>
                  <a:pt x="0" y="0"/>
                </a:lnTo>
                <a:lnTo>
                  <a:pt x="0" y="6436517"/>
                </a:lnTo>
                <a:lnTo>
                  <a:pt x="10653545" y="6436517"/>
                </a:lnTo>
                <a:lnTo>
                  <a:pt x="10653545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6611" y="422320"/>
            <a:ext cx="4532630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50" spc="-65" dirty="0"/>
              <a:t>JWT</a:t>
            </a:r>
            <a:r>
              <a:rPr sz="3150" spc="-114" dirty="0"/>
              <a:t> </a:t>
            </a:r>
            <a:r>
              <a:rPr sz="3150" spc="-175" dirty="0"/>
              <a:t>Authentication</a:t>
            </a:r>
            <a:r>
              <a:rPr sz="3150" spc="-110" dirty="0"/>
              <a:t> </a:t>
            </a:r>
            <a:r>
              <a:rPr sz="3150" spc="-85" dirty="0"/>
              <a:t>Flow</a:t>
            </a:r>
            <a:endParaRPr sz="3150"/>
          </a:p>
        </p:txBody>
      </p:sp>
      <p:grpSp>
        <p:nvGrpSpPr>
          <p:cNvPr id="4" name="object 4"/>
          <p:cNvGrpSpPr/>
          <p:nvPr/>
        </p:nvGrpSpPr>
        <p:grpSpPr>
          <a:xfrm>
            <a:off x="771749" y="1437520"/>
            <a:ext cx="9102725" cy="3724275"/>
            <a:chOff x="771749" y="1437520"/>
            <a:chExt cx="9102725" cy="3724275"/>
          </a:xfrm>
        </p:grpSpPr>
        <p:sp>
          <p:nvSpPr>
            <p:cNvPr id="5" name="object 5"/>
            <p:cNvSpPr/>
            <p:nvPr/>
          </p:nvSpPr>
          <p:spPr>
            <a:xfrm>
              <a:off x="776742" y="4264792"/>
              <a:ext cx="9092565" cy="892175"/>
            </a:xfrm>
            <a:custGeom>
              <a:avLst/>
              <a:gdLst/>
              <a:ahLst/>
              <a:cxnLst/>
              <a:rect l="l" t="t" r="r" b="b"/>
              <a:pathLst>
                <a:path w="9092565" h="892175">
                  <a:moveTo>
                    <a:pt x="8637511" y="0"/>
                  </a:moveTo>
                  <a:lnTo>
                    <a:pt x="8637511" y="114407"/>
                  </a:lnTo>
                  <a:lnTo>
                    <a:pt x="0" y="114407"/>
                  </a:lnTo>
                  <a:lnTo>
                    <a:pt x="0" y="781840"/>
                  </a:lnTo>
                  <a:lnTo>
                    <a:pt x="8637511" y="781840"/>
                  </a:lnTo>
                  <a:lnTo>
                    <a:pt x="8637511" y="891784"/>
                  </a:lnTo>
                  <a:lnTo>
                    <a:pt x="9092441" y="445898"/>
                  </a:lnTo>
                  <a:lnTo>
                    <a:pt x="8637511" y="0"/>
                  </a:lnTo>
                  <a:close/>
                </a:path>
              </a:pathLst>
            </a:custGeom>
            <a:solidFill>
              <a:srgbClr val="8EC9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6742" y="4264792"/>
              <a:ext cx="9092565" cy="892175"/>
            </a:xfrm>
            <a:custGeom>
              <a:avLst/>
              <a:gdLst/>
              <a:ahLst/>
              <a:cxnLst/>
              <a:rect l="l" t="t" r="r" b="b"/>
              <a:pathLst>
                <a:path w="9092565" h="892175">
                  <a:moveTo>
                    <a:pt x="9092429" y="445898"/>
                  </a:moveTo>
                  <a:lnTo>
                    <a:pt x="8637511" y="891784"/>
                  </a:lnTo>
                  <a:lnTo>
                    <a:pt x="8637511" y="781840"/>
                  </a:lnTo>
                  <a:lnTo>
                    <a:pt x="0" y="781840"/>
                  </a:lnTo>
                  <a:lnTo>
                    <a:pt x="0" y="114407"/>
                  </a:lnTo>
                  <a:lnTo>
                    <a:pt x="8637511" y="114407"/>
                  </a:lnTo>
                  <a:lnTo>
                    <a:pt x="8637511" y="0"/>
                  </a:lnTo>
                  <a:lnTo>
                    <a:pt x="9092429" y="445898"/>
                  </a:lnTo>
                  <a:close/>
                </a:path>
              </a:pathLst>
            </a:custGeom>
            <a:ln w="9987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76742" y="3323681"/>
              <a:ext cx="8234680" cy="892175"/>
            </a:xfrm>
            <a:custGeom>
              <a:avLst/>
              <a:gdLst/>
              <a:ahLst/>
              <a:cxnLst/>
              <a:rect l="l" t="t" r="r" b="b"/>
              <a:pathLst>
                <a:path w="8234680" h="892175">
                  <a:moveTo>
                    <a:pt x="7779391" y="0"/>
                  </a:moveTo>
                  <a:lnTo>
                    <a:pt x="7779391" y="111589"/>
                  </a:lnTo>
                  <a:lnTo>
                    <a:pt x="0" y="111589"/>
                  </a:lnTo>
                  <a:lnTo>
                    <a:pt x="0" y="779010"/>
                  </a:lnTo>
                  <a:lnTo>
                    <a:pt x="7779391" y="779010"/>
                  </a:lnTo>
                  <a:lnTo>
                    <a:pt x="7779391" y="891796"/>
                  </a:lnTo>
                  <a:lnTo>
                    <a:pt x="8234310" y="445898"/>
                  </a:lnTo>
                  <a:lnTo>
                    <a:pt x="7779391" y="0"/>
                  </a:lnTo>
                  <a:close/>
                </a:path>
              </a:pathLst>
            </a:custGeom>
            <a:solidFill>
              <a:srgbClr val="6BB7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76742" y="3323681"/>
              <a:ext cx="8234680" cy="892175"/>
            </a:xfrm>
            <a:custGeom>
              <a:avLst/>
              <a:gdLst/>
              <a:ahLst/>
              <a:cxnLst/>
              <a:rect l="l" t="t" r="r" b="b"/>
              <a:pathLst>
                <a:path w="8234680" h="892175">
                  <a:moveTo>
                    <a:pt x="8234310" y="445898"/>
                  </a:moveTo>
                  <a:lnTo>
                    <a:pt x="7779391" y="891796"/>
                  </a:lnTo>
                  <a:lnTo>
                    <a:pt x="7779391" y="779010"/>
                  </a:lnTo>
                  <a:lnTo>
                    <a:pt x="0" y="779010"/>
                  </a:lnTo>
                  <a:lnTo>
                    <a:pt x="0" y="111589"/>
                  </a:lnTo>
                  <a:lnTo>
                    <a:pt x="7779391" y="111589"/>
                  </a:lnTo>
                  <a:lnTo>
                    <a:pt x="7779391" y="0"/>
                  </a:lnTo>
                  <a:lnTo>
                    <a:pt x="8234310" y="445898"/>
                  </a:lnTo>
                  <a:close/>
                </a:path>
              </a:pathLst>
            </a:custGeom>
            <a:ln w="9987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6742" y="2384216"/>
              <a:ext cx="7472045" cy="892175"/>
            </a:xfrm>
            <a:custGeom>
              <a:avLst/>
              <a:gdLst/>
              <a:ahLst/>
              <a:cxnLst/>
              <a:rect l="l" t="t" r="r" b="b"/>
              <a:pathLst>
                <a:path w="7472045" h="892175">
                  <a:moveTo>
                    <a:pt x="7016621" y="0"/>
                  </a:moveTo>
                  <a:lnTo>
                    <a:pt x="7016621" y="114419"/>
                  </a:lnTo>
                  <a:lnTo>
                    <a:pt x="0" y="114419"/>
                  </a:lnTo>
                  <a:lnTo>
                    <a:pt x="0" y="781851"/>
                  </a:lnTo>
                  <a:lnTo>
                    <a:pt x="7016621" y="781851"/>
                  </a:lnTo>
                  <a:lnTo>
                    <a:pt x="7016621" y="891796"/>
                  </a:lnTo>
                  <a:lnTo>
                    <a:pt x="7471528" y="445898"/>
                  </a:lnTo>
                  <a:lnTo>
                    <a:pt x="7016621" y="0"/>
                  </a:lnTo>
                  <a:close/>
                </a:path>
              </a:pathLst>
            </a:custGeom>
            <a:solidFill>
              <a:srgbClr val="48A6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76742" y="2384216"/>
              <a:ext cx="7472045" cy="892175"/>
            </a:xfrm>
            <a:custGeom>
              <a:avLst/>
              <a:gdLst/>
              <a:ahLst/>
              <a:cxnLst/>
              <a:rect l="l" t="t" r="r" b="b"/>
              <a:pathLst>
                <a:path w="7472045" h="892175">
                  <a:moveTo>
                    <a:pt x="7471528" y="445898"/>
                  </a:moveTo>
                  <a:lnTo>
                    <a:pt x="7016621" y="891796"/>
                  </a:lnTo>
                  <a:lnTo>
                    <a:pt x="7016621" y="781851"/>
                  </a:lnTo>
                  <a:lnTo>
                    <a:pt x="0" y="781851"/>
                  </a:lnTo>
                  <a:lnTo>
                    <a:pt x="0" y="114419"/>
                  </a:lnTo>
                  <a:lnTo>
                    <a:pt x="7016621" y="114419"/>
                  </a:lnTo>
                  <a:lnTo>
                    <a:pt x="7016621" y="0"/>
                  </a:lnTo>
                  <a:lnTo>
                    <a:pt x="7471528" y="445898"/>
                  </a:lnTo>
                  <a:close/>
                </a:path>
              </a:pathLst>
            </a:custGeom>
            <a:ln w="9987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6751" y="1442514"/>
              <a:ext cx="6699250" cy="892175"/>
            </a:xfrm>
            <a:custGeom>
              <a:avLst/>
              <a:gdLst/>
              <a:ahLst/>
              <a:cxnLst/>
              <a:rect l="l" t="t" r="r" b="b"/>
              <a:pathLst>
                <a:path w="6699250" h="892175">
                  <a:moveTo>
                    <a:pt x="6244302" y="0"/>
                  </a:moveTo>
                  <a:lnTo>
                    <a:pt x="6244302" y="112193"/>
                  </a:lnTo>
                  <a:lnTo>
                    <a:pt x="0" y="112193"/>
                  </a:lnTo>
                  <a:lnTo>
                    <a:pt x="0" y="779614"/>
                  </a:lnTo>
                  <a:lnTo>
                    <a:pt x="6244302" y="779614"/>
                  </a:lnTo>
                  <a:lnTo>
                    <a:pt x="6244302" y="891796"/>
                  </a:lnTo>
                  <a:lnTo>
                    <a:pt x="6699232" y="445910"/>
                  </a:lnTo>
                  <a:lnTo>
                    <a:pt x="6244302" y="0"/>
                  </a:lnTo>
                  <a:close/>
                </a:path>
              </a:pathLst>
            </a:custGeom>
            <a:solidFill>
              <a:srgbClr val="3789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6751" y="1442514"/>
              <a:ext cx="6699250" cy="892175"/>
            </a:xfrm>
            <a:custGeom>
              <a:avLst/>
              <a:gdLst/>
              <a:ahLst/>
              <a:cxnLst/>
              <a:rect l="l" t="t" r="r" b="b"/>
              <a:pathLst>
                <a:path w="6699250" h="892175">
                  <a:moveTo>
                    <a:pt x="6699232" y="445910"/>
                  </a:moveTo>
                  <a:lnTo>
                    <a:pt x="6244302" y="891796"/>
                  </a:lnTo>
                  <a:lnTo>
                    <a:pt x="6244302" y="779614"/>
                  </a:lnTo>
                  <a:lnTo>
                    <a:pt x="0" y="779614"/>
                  </a:lnTo>
                  <a:lnTo>
                    <a:pt x="0" y="112193"/>
                  </a:lnTo>
                  <a:lnTo>
                    <a:pt x="6244302" y="112193"/>
                  </a:lnTo>
                  <a:lnTo>
                    <a:pt x="6244302" y="0"/>
                  </a:lnTo>
                  <a:lnTo>
                    <a:pt x="6699232" y="445910"/>
                  </a:lnTo>
                  <a:close/>
                </a:path>
              </a:pathLst>
            </a:custGeom>
            <a:ln w="9987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18435" y="4552424"/>
            <a:ext cx="986790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spc="-110" dirty="0">
                <a:latin typeface="Verdana"/>
                <a:cs typeface="Verdana"/>
              </a:rPr>
              <a:t>API</a:t>
            </a:r>
            <a:r>
              <a:rPr sz="1650" spc="-50" dirty="0">
                <a:latin typeface="Verdana"/>
                <a:cs typeface="Verdana"/>
              </a:rPr>
              <a:t> </a:t>
            </a:r>
            <a:r>
              <a:rPr sz="1650" spc="-45" dirty="0">
                <a:latin typeface="Verdana"/>
                <a:cs typeface="Verdana"/>
              </a:rPr>
              <a:t>Verify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18435" y="3608489"/>
            <a:ext cx="1177290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spc="-90" dirty="0">
                <a:latin typeface="Verdana"/>
                <a:cs typeface="Verdana"/>
              </a:rPr>
              <a:t>Store</a:t>
            </a:r>
            <a:r>
              <a:rPr sz="1650" spc="-50" dirty="0">
                <a:latin typeface="Verdana"/>
                <a:cs typeface="Verdana"/>
              </a:rPr>
              <a:t> </a:t>
            </a:r>
            <a:r>
              <a:rPr sz="1650" spc="-95" dirty="0">
                <a:latin typeface="Verdana"/>
                <a:cs typeface="Verdana"/>
              </a:rPr>
              <a:t>Token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18435" y="2674088"/>
            <a:ext cx="1012825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spc="-135" dirty="0">
                <a:latin typeface="Verdana"/>
                <a:cs typeface="Verdana"/>
              </a:rPr>
              <a:t>Issue</a:t>
            </a:r>
            <a:r>
              <a:rPr sz="1650" spc="-25" dirty="0">
                <a:latin typeface="Verdana"/>
                <a:cs typeface="Verdana"/>
              </a:rPr>
              <a:t> JWT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18435" y="1730153"/>
            <a:ext cx="1062990" cy="2832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650" spc="-85" dirty="0">
                <a:latin typeface="Verdana"/>
                <a:cs typeface="Verdana"/>
              </a:rPr>
              <a:t>User</a:t>
            </a:r>
            <a:r>
              <a:rPr sz="1650" spc="-65" dirty="0">
                <a:latin typeface="Verdana"/>
                <a:cs typeface="Verdana"/>
              </a:rPr>
              <a:t> </a:t>
            </a:r>
            <a:r>
              <a:rPr sz="1650" spc="-40" dirty="0">
                <a:latin typeface="Verdana"/>
                <a:cs typeface="Verdana"/>
              </a:rPr>
              <a:t>Login</a:t>
            </a:r>
            <a:endParaRPr sz="16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6611" y="5470324"/>
            <a:ext cx="9155430" cy="504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800"/>
              </a:lnSpc>
              <a:spcBef>
                <a:spcPts val="95"/>
              </a:spcBef>
            </a:pP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When</a:t>
            </a:r>
            <a:r>
              <a:rPr sz="12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users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log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in,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server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generates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a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JWT</a:t>
            </a:r>
            <a:r>
              <a:rPr sz="12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Roboto"/>
                <a:cs typeface="Roboto"/>
              </a:rPr>
              <a:t>containing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their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role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permissions.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Roboto"/>
                <a:cs typeface="Roboto"/>
              </a:rPr>
              <a:t>Subsequent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API</a:t>
            </a:r>
            <a:r>
              <a:rPr sz="12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requests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include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this</a:t>
            </a:r>
            <a:r>
              <a:rPr sz="12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Roboto"/>
                <a:cs typeface="Roboto"/>
              </a:rPr>
              <a:t>token,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which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our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middleware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Roboto"/>
                <a:cs typeface="Roboto"/>
              </a:rPr>
              <a:t>validates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uses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to</a:t>
            </a:r>
            <a:r>
              <a:rPr sz="12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determine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2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74552"/>
                </a:solidFill>
                <a:latin typeface="Roboto"/>
                <a:cs typeface="Roboto"/>
              </a:rPr>
              <a:t>rights.</a:t>
            </a:r>
            <a:endParaRPr sz="12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587500"/>
            <a:ext cx="351790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70" dirty="0"/>
              <a:t>Permission</a:t>
            </a:r>
            <a:r>
              <a:rPr spc="-85" dirty="0"/>
              <a:t> </a:t>
            </a:r>
            <a:r>
              <a:rPr spc="-100" dirty="0"/>
              <a:t>Matrix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486024"/>
            <a:ext cx="10229850" cy="1943100"/>
            <a:chOff x="600075" y="2486024"/>
            <a:chExt cx="10229850" cy="1943100"/>
          </a:xfrm>
        </p:grpSpPr>
        <p:sp>
          <p:nvSpPr>
            <p:cNvPr id="4" name="object 4"/>
            <p:cNvSpPr/>
            <p:nvPr/>
          </p:nvSpPr>
          <p:spPr>
            <a:xfrm>
              <a:off x="604837" y="2490787"/>
              <a:ext cx="10220325" cy="1933575"/>
            </a:xfrm>
            <a:custGeom>
              <a:avLst/>
              <a:gdLst/>
              <a:ahLst/>
              <a:cxnLst/>
              <a:rect l="l" t="t" r="r" b="b"/>
              <a:pathLst>
                <a:path w="10220325" h="1933575">
                  <a:moveTo>
                    <a:pt x="0" y="18783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10165080" y="0"/>
                  </a:lnTo>
                  <a:lnTo>
                    <a:pt x="10168712" y="0"/>
                  </a:lnTo>
                  <a:lnTo>
                    <a:pt x="10172293" y="355"/>
                  </a:lnTo>
                  <a:lnTo>
                    <a:pt x="10175849" y="1066"/>
                  </a:lnTo>
                  <a:lnTo>
                    <a:pt x="10179418" y="1765"/>
                  </a:lnTo>
                  <a:lnTo>
                    <a:pt x="10182872" y="2819"/>
                  </a:lnTo>
                  <a:lnTo>
                    <a:pt x="10186212" y="4203"/>
                  </a:lnTo>
                  <a:lnTo>
                    <a:pt x="10189578" y="5588"/>
                  </a:lnTo>
                  <a:lnTo>
                    <a:pt x="10192753" y="7289"/>
                  </a:lnTo>
                  <a:lnTo>
                    <a:pt x="10195763" y="9309"/>
                  </a:lnTo>
                  <a:lnTo>
                    <a:pt x="10198785" y="11328"/>
                  </a:lnTo>
                  <a:lnTo>
                    <a:pt x="10201579" y="13614"/>
                  </a:lnTo>
                  <a:lnTo>
                    <a:pt x="10204145" y="16179"/>
                  </a:lnTo>
                  <a:lnTo>
                    <a:pt x="10206710" y="18745"/>
                  </a:lnTo>
                  <a:lnTo>
                    <a:pt x="10219258" y="44462"/>
                  </a:lnTo>
                  <a:lnTo>
                    <a:pt x="10219969" y="48018"/>
                  </a:lnTo>
                  <a:lnTo>
                    <a:pt x="10220325" y="51612"/>
                  </a:lnTo>
                  <a:lnTo>
                    <a:pt x="10220325" y="55245"/>
                  </a:lnTo>
                  <a:lnTo>
                    <a:pt x="10220325" y="1878330"/>
                  </a:lnTo>
                  <a:lnTo>
                    <a:pt x="10220325" y="1881962"/>
                  </a:lnTo>
                  <a:lnTo>
                    <a:pt x="10219969" y="1885543"/>
                  </a:lnTo>
                  <a:lnTo>
                    <a:pt x="10219258" y="1889112"/>
                  </a:lnTo>
                  <a:lnTo>
                    <a:pt x="10218559" y="1892668"/>
                  </a:lnTo>
                  <a:lnTo>
                    <a:pt x="10204145" y="1917395"/>
                  </a:lnTo>
                  <a:lnTo>
                    <a:pt x="10201579" y="1919960"/>
                  </a:lnTo>
                  <a:lnTo>
                    <a:pt x="10175849" y="1932508"/>
                  </a:lnTo>
                  <a:lnTo>
                    <a:pt x="10172293" y="1933219"/>
                  </a:lnTo>
                  <a:lnTo>
                    <a:pt x="10168712" y="1933575"/>
                  </a:lnTo>
                  <a:lnTo>
                    <a:pt x="10165080" y="1933575"/>
                  </a:lnTo>
                  <a:lnTo>
                    <a:pt x="55245" y="1933575"/>
                  </a:lnTo>
                  <a:lnTo>
                    <a:pt x="51619" y="1933575"/>
                  </a:lnTo>
                  <a:lnTo>
                    <a:pt x="48026" y="1933219"/>
                  </a:lnTo>
                  <a:lnTo>
                    <a:pt x="44465" y="1932508"/>
                  </a:lnTo>
                  <a:lnTo>
                    <a:pt x="40907" y="1931809"/>
                  </a:lnTo>
                  <a:lnTo>
                    <a:pt x="9311" y="1909013"/>
                  </a:lnTo>
                  <a:lnTo>
                    <a:pt x="7292" y="1906003"/>
                  </a:lnTo>
                  <a:lnTo>
                    <a:pt x="5590" y="1902828"/>
                  </a:lnTo>
                  <a:lnTo>
                    <a:pt x="4207" y="1899475"/>
                  </a:lnTo>
                  <a:lnTo>
                    <a:pt x="2818" y="1896122"/>
                  </a:lnTo>
                  <a:lnTo>
                    <a:pt x="1771" y="1892668"/>
                  </a:lnTo>
                  <a:lnTo>
                    <a:pt x="1061" y="1889112"/>
                  </a:lnTo>
                  <a:lnTo>
                    <a:pt x="351" y="1885543"/>
                  </a:lnTo>
                  <a:lnTo>
                    <a:pt x="0" y="1881962"/>
                  </a:lnTo>
                  <a:lnTo>
                    <a:pt x="0" y="187833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87" y="2495562"/>
              <a:ext cx="10210800" cy="485775"/>
            </a:xfrm>
            <a:custGeom>
              <a:avLst/>
              <a:gdLst/>
              <a:ahLst/>
              <a:cxnLst/>
              <a:rect l="l" t="t" r="r" b="b"/>
              <a:pathLst>
                <a:path w="10210800" h="485775">
                  <a:moveTo>
                    <a:pt x="2552700" y="0"/>
                  </a:moveTo>
                  <a:lnTo>
                    <a:pt x="52057" y="0"/>
                  </a:lnTo>
                  <a:lnTo>
                    <a:pt x="44399" y="1524"/>
                  </a:lnTo>
                  <a:lnTo>
                    <a:pt x="11950" y="23202"/>
                  </a:lnTo>
                  <a:lnTo>
                    <a:pt x="0" y="52057"/>
                  </a:lnTo>
                  <a:lnTo>
                    <a:pt x="0" y="485775"/>
                  </a:lnTo>
                  <a:lnTo>
                    <a:pt x="2552700" y="485775"/>
                  </a:lnTo>
                  <a:lnTo>
                    <a:pt x="2552700" y="0"/>
                  </a:lnTo>
                  <a:close/>
                </a:path>
                <a:path w="10210800" h="485775">
                  <a:moveTo>
                    <a:pt x="10210800" y="52057"/>
                  </a:moveTo>
                  <a:lnTo>
                    <a:pt x="10187597" y="11950"/>
                  </a:lnTo>
                  <a:lnTo>
                    <a:pt x="10158755" y="0"/>
                  </a:lnTo>
                  <a:lnTo>
                    <a:pt x="8686800" y="0"/>
                  </a:lnTo>
                  <a:lnTo>
                    <a:pt x="8686800" y="485775"/>
                  </a:lnTo>
                  <a:lnTo>
                    <a:pt x="10210800" y="485775"/>
                  </a:lnTo>
                  <a:lnTo>
                    <a:pt x="10210800" y="520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09587" y="3943362"/>
              <a:ext cx="10210800" cy="476250"/>
            </a:xfrm>
            <a:custGeom>
              <a:avLst/>
              <a:gdLst/>
              <a:ahLst/>
              <a:cxnLst/>
              <a:rect l="l" t="t" r="r" b="b"/>
              <a:pathLst>
                <a:path w="10210800" h="476250">
                  <a:moveTo>
                    <a:pt x="2552700" y="0"/>
                  </a:moveTo>
                  <a:lnTo>
                    <a:pt x="0" y="0"/>
                  </a:lnTo>
                  <a:lnTo>
                    <a:pt x="0" y="424205"/>
                  </a:lnTo>
                  <a:lnTo>
                    <a:pt x="23202" y="464299"/>
                  </a:lnTo>
                  <a:lnTo>
                    <a:pt x="52057" y="476250"/>
                  </a:lnTo>
                  <a:lnTo>
                    <a:pt x="2552700" y="476250"/>
                  </a:lnTo>
                  <a:lnTo>
                    <a:pt x="2552700" y="0"/>
                  </a:lnTo>
                  <a:close/>
                </a:path>
                <a:path w="10210800" h="476250">
                  <a:moveTo>
                    <a:pt x="10210800" y="0"/>
                  </a:moveTo>
                  <a:lnTo>
                    <a:pt x="8686800" y="0"/>
                  </a:lnTo>
                  <a:lnTo>
                    <a:pt x="8686800" y="476250"/>
                  </a:lnTo>
                  <a:lnTo>
                    <a:pt x="10158755" y="476250"/>
                  </a:lnTo>
                  <a:lnTo>
                    <a:pt x="10166401" y="474726"/>
                  </a:lnTo>
                  <a:lnTo>
                    <a:pt x="10198849" y="453047"/>
                  </a:lnTo>
                  <a:lnTo>
                    <a:pt x="10210800" y="424205"/>
                  </a:lnTo>
                  <a:lnTo>
                    <a:pt x="102108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9600" y="2495549"/>
          <a:ext cx="10207624" cy="1923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57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3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8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8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Resource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A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Editor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Viewer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Create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b="1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Delete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61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Posts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All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Own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Read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04775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Admin,</a:t>
                      </a:r>
                      <a:r>
                        <a:rPr sz="1350" spc="-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Editor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35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Admin,</a:t>
                      </a:r>
                      <a:r>
                        <a:rPr sz="1350" spc="-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Owner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23825" marB="0">
                    <a:lnL w="9525">
                      <a:solidFill>
                        <a:srgbClr val="FAF9F5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Users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All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1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 </a:t>
                      </a:r>
                      <a:r>
                        <a:rPr sz="1350" spc="-3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No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1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 </a:t>
                      </a:r>
                      <a:r>
                        <a:rPr sz="1350" spc="-3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No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Comments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R w="9525">
                      <a:solidFill>
                        <a:srgbClr val="FAF9F5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All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1500" spc="-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7</a:t>
                      </a:r>
                      <a:r>
                        <a:rPr sz="1500" spc="-135" dirty="0">
                          <a:solidFill>
                            <a:srgbClr val="374552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350" spc="-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Own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1430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spc="12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 </a:t>
                      </a:r>
                      <a:r>
                        <a:rPr sz="1350" spc="-3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No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Admin,</a:t>
                      </a:r>
                      <a:r>
                        <a:rPr sz="1350" spc="-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Editor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  <a:lnR w="9525">
                      <a:solidFill>
                        <a:srgbClr val="FAF9F5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335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5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Admin,</a:t>
                      </a:r>
                      <a:r>
                        <a:rPr sz="1350" spc="-5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350" spc="-10" dirty="0">
                          <a:solidFill>
                            <a:srgbClr val="374552"/>
                          </a:solidFill>
                          <a:latin typeface="Roboto"/>
                          <a:cs typeface="Roboto"/>
                        </a:rPr>
                        <a:t>Owner</a:t>
                      </a:r>
                      <a:endParaRPr sz="1350">
                        <a:latin typeface="Roboto"/>
                        <a:cs typeface="Roboto"/>
                      </a:endParaRPr>
                    </a:p>
                  </a:txBody>
                  <a:tcPr marL="0" marR="0" marT="133350" marB="0">
                    <a:lnL w="9525">
                      <a:solidFill>
                        <a:srgbClr val="FAF9F5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587356" y="4622165"/>
            <a:ext cx="8623300" cy="1905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This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matrix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defines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what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each</a:t>
            </a:r>
            <a:r>
              <a:rPr sz="1050" spc="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role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can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do.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spc="-35" dirty="0">
                <a:solidFill>
                  <a:srgbClr val="374552"/>
                </a:solidFill>
                <a:latin typeface="Roboto"/>
                <a:cs typeface="Roboto"/>
              </a:rPr>
              <a:t>Fine-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grained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permissions</a:t>
            </a:r>
            <a:r>
              <a:rPr sz="1050" spc="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ensure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users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access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exactly</a:t>
            </a:r>
            <a:r>
              <a:rPr sz="1050" spc="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what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they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need4nothing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more,</a:t>
            </a:r>
            <a:r>
              <a:rPr sz="1050" spc="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374552"/>
                </a:solidFill>
                <a:latin typeface="Roboto"/>
                <a:cs typeface="Roboto"/>
              </a:rPr>
              <a:t>nothing</a:t>
            </a:r>
            <a:r>
              <a:rPr sz="1050" spc="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374552"/>
                </a:solidFill>
                <a:latin typeface="Roboto"/>
                <a:cs typeface="Roboto"/>
              </a:rPr>
              <a:t>less.</a:t>
            </a:r>
            <a:endParaRPr sz="10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11430000" cy="6496050"/>
          </a:xfrm>
          <a:custGeom>
            <a:avLst/>
            <a:gdLst/>
            <a:ahLst/>
            <a:cxnLst/>
            <a:rect l="l" t="t" r="r" b="b"/>
            <a:pathLst>
              <a:path w="11430000" h="6496050">
                <a:moveTo>
                  <a:pt x="11430000" y="0"/>
                </a:moveTo>
                <a:lnTo>
                  <a:pt x="0" y="0"/>
                </a:lnTo>
                <a:lnTo>
                  <a:pt x="0" y="6496050"/>
                </a:lnTo>
                <a:lnTo>
                  <a:pt x="11430000" y="64960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254"/>
            <a:ext cx="4286250" cy="649579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375" y="454025"/>
            <a:ext cx="436943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Real-</a:t>
            </a:r>
            <a:r>
              <a:rPr spc="-140" dirty="0"/>
              <a:t>World</a:t>
            </a:r>
            <a:r>
              <a:rPr spc="-114" dirty="0"/>
              <a:t> </a:t>
            </a:r>
            <a:r>
              <a:rPr spc="-215" dirty="0"/>
              <a:t>Use</a:t>
            </a:r>
            <a:r>
              <a:rPr spc="-114" dirty="0"/>
              <a:t> </a:t>
            </a:r>
            <a:r>
              <a:rPr spc="-75" dirty="0"/>
              <a:t>Cases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581024" y="1266825"/>
            <a:ext cx="2905125" cy="2295525"/>
            <a:chOff x="581024" y="1266825"/>
            <a:chExt cx="2905125" cy="2295525"/>
          </a:xfrm>
        </p:grpSpPr>
        <p:sp>
          <p:nvSpPr>
            <p:cNvPr id="8" name="object 8"/>
            <p:cNvSpPr/>
            <p:nvPr/>
          </p:nvSpPr>
          <p:spPr>
            <a:xfrm>
              <a:off x="600074" y="1276350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282938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2209800"/>
                  </a:lnTo>
                  <a:lnTo>
                    <a:pt x="0" y="2214181"/>
                  </a:lnTo>
                  <a:lnTo>
                    <a:pt x="15622" y="2250478"/>
                  </a:lnTo>
                  <a:lnTo>
                    <a:pt x="51663" y="2273071"/>
                  </a:lnTo>
                  <a:lnTo>
                    <a:pt x="71194" y="2276475"/>
                  </a:lnTo>
                  <a:lnTo>
                    <a:pt x="2829382" y="2276475"/>
                  </a:lnTo>
                  <a:lnTo>
                    <a:pt x="2864104" y="2259342"/>
                  </a:lnTo>
                  <a:lnTo>
                    <a:pt x="2875572" y="2235835"/>
                  </a:lnTo>
                  <a:lnTo>
                    <a:pt x="2876232" y="2232596"/>
                  </a:lnTo>
                  <a:lnTo>
                    <a:pt x="2876550" y="2229307"/>
                  </a:lnTo>
                  <a:lnTo>
                    <a:pt x="2876550" y="47167"/>
                  </a:lnTo>
                  <a:lnTo>
                    <a:pt x="2876232" y="43891"/>
                  </a:lnTo>
                  <a:lnTo>
                    <a:pt x="2875572" y="40640"/>
                  </a:lnTo>
                  <a:lnTo>
                    <a:pt x="2874937" y="37376"/>
                  </a:lnTo>
                  <a:lnTo>
                    <a:pt x="2851353" y="6667"/>
                  </a:lnTo>
                  <a:lnTo>
                    <a:pt x="2832671" y="317"/>
                  </a:lnTo>
                  <a:lnTo>
                    <a:pt x="2829382" y="0"/>
                  </a:lnTo>
                  <a:close/>
                </a:path>
              </a:pathLst>
            </a:custGeom>
            <a:solidFill>
              <a:srgbClr val="FA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913" y="1266837"/>
              <a:ext cx="2885440" cy="2295525"/>
            </a:xfrm>
            <a:custGeom>
              <a:avLst/>
              <a:gdLst/>
              <a:ahLst/>
              <a:cxnLst/>
              <a:rect l="l" t="t" r="r" b="b"/>
              <a:pathLst>
                <a:path w="2885440" h="2295525">
                  <a:moveTo>
                    <a:pt x="2885186" y="51828"/>
                  </a:moveTo>
                  <a:lnTo>
                    <a:pt x="2883700" y="44399"/>
                  </a:lnTo>
                  <a:lnTo>
                    <a:pt x="2877604" y="29692"/>
                  </a:lnTo>
                  <a:lnTo>
                    <a:pt x="2873273" y="23202"/>
                  </a:lnTo>
                  <a:lnTo>
                    <a:pt x="2868117" y="18059"/>
                  </a:lnTo>
                  <a:lnTo>
                    <a:pt x="2867876" y="17805"/>
                  </a:lnTo>
                  <a:lnTo>
                    <a:pt x="2867660" y="17576"/>
                  </a:lnTo>
                  <a:lnTo>
                    <a:pt x="2862021" y="11950"/>
                  </a:lnTo>
                  <a:lnTo>
                    <a:pt x="2855531" y="7607"/>
                  </a:lnTo>
                  <a:lnTo>
                    <a:pt x="2840952" y="1562"/>
                  </a:lnTo>
                  <a:lnTo>
                    <a:pt x="2841079" y="1562"/>
                  </a:lnTo>
                  <a:lnTo>
                    <a:pt x="28331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825216" y="19050"/>
                  </a:lnTo>
                  <a:lnTo>
                    <a:pt x="2854426" y="31356"/>
                  </a:lnTo>
                  <a:lnTo>
                    <a:pt x="2859430" y="37350"/>
                  </a:lnTo>
                  <a:lnTo>
                    <a:pt x="2863215" y="44399"/>
                  </a:lnTo>
                  <a:lnTo>
                    <a:pt x="2865424" y="51828"/>
                  </a:lnTo>
                  <a:lnTo>
                    <a:pt x="2866174" y="60007"/>
                  </a:lnTo>
                  <a:lnTo>
                    <a:pt x="2866174" y="2235517"/>
                  </a:lnTo>
                  <a:lnTo>
                    <a:pt x="2854617" y="2263952"/>
                  </a:lnTo>
                  <a:lnTo>
                    <a:pt x="2854185" y="2264473"/>
                  </a:lnTo>
                  <a:lnTo>
                    <a:pt x="2825216" y="2276475"/>
                  </a:lnTo>
                  <a:lnTo>
                    <a:pt x="75349" y="2276475"/>
                  </a:lnTo>
                  <a:lnTo>
                    <a:pt x="33007" y="2266848"/>
                  </a:lnTo>
                  <a:lnTo>
                    <a:pt x="1092" y="2234196"/>
                  </a:lnTo>
                  <a:lnTo>
                    <a:pt x="0" y="2230082"/>
                  </a:lnTo>
                  <a:lnTo>
                    <a:pt x="609" y="2234196"/>
                  </a:lnTo>
                  <a:lnTo>
                    <a:pt x="21475" y="2273211"/>
                  </a:lnTo>
                  <a:lnTo>
                    <a:pt x="60490" y="2294064"/>
                  </a:lnTo>
                  <a:lnTo>
                    <a:pt x="75349" y="2295525"/>
                  </a:lnTo>
                  <a:lnTo>
                    <a:pt x="2833179" y="2295525"/>
                  </a:lnTo>
                  <a:lnTo>
                    <a:pt x="2840456" y="2294064"/>
                  </a:lnTo>
                  <a:lnTo>
                    <a:pt x="2840647" y="2294064"/>
                  </a:lnTo>
                  <a:lnTo>
                    <a:pt x="2855531" y="2287905"/>
                  </a:lnTo>
                  <a:lnTo>
                    <a:pt x="2862021" y="2283574"/>
                  </a:lnTo>
                  <a:lnTo>
                    <a:pt x="2867647" y="2277948"/>
                  </a:lnTo>
                  <a:lnTo>
                    <a:pt x="2868130" y="2277465"/>
                  </a:lnTo>
                  <a:lnTo>
                    <a:pt x="2873273" y="2272322"/>
                  </a:lnTo>
                  <a:lnTo>
                    <a:pt x="2877604" y="2265832"/>
                  </a:lnTo>
                  <a:lnTo>
                    <a:pt x="2883662" y="2251240"/>
                  </a:lnTo>
                  <a:lnTo>
                    <a:pt x="2885186" y="2243683"/>
                  </a:lnTo>
                  <a:lnTo>
                    <a:pt x="2885186" y="51828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4" y="1266825"/>
              <a:ext cx="76199" cy="22955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35025" y="1439862"/>
            <a:ext cx="2367280" cy="1912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5" dirty="0">
                <a:solidFill>
                  <a:srgbClr val="374552"/>
                </a:solidFill>
                <a:latin typeface="Verdana"/>
                <a:cs typeface="Verdana"/>
              </a:rPr>
              <a:t>Editor</a:t>
            </a:r>
            <a:r>
              <a:rPr sz="1650" spc="-4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Workflow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Sarah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lоgз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in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aз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editоr.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She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сan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view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edit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оnly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her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оwn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соntent.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When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зhe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attemptз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tо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mоdify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anоther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editоr'з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pозt,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зyзtem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denieз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aссeзз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with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permiззiоn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errоr.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638549" y="1266825"/>
            <a:ext cx="2905125" cy="2295525"/>
            <a:chOff x="3638549" y="1266825"/>
            <a:chExt cx="2905125" cy="2295525"/>
          </a:xfrm>
        </p:grpSpPr>
        <p:sp>
          <p:nvSpPr>
            <p:cNvPr id="13" name="object 13"/>
            <p:cNvSpPr/>
            <p:nvPr/>
          </p:nvSpPr>
          <p:spPr>
            <a:xfrm>
              <a:off x="3657599" y="1276350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282938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2209800"/>
                  </a:lnTo>
                  <a:lnTo>
                    <a:pt x="0" y="2214181"/>
                  </a:lnTo>
                  <a:lnTo>
                    <a:pt x="15621" y="2250478"/>
                  </a:lnTo>
                  <a:lnTo>
                    <a:pt x="51663" y="2273071"/>
                  </a:lnTo>
                  <a:lnTo>
                    <a:pt x="71196" y="2276475"/>
                  </a:lnTo>
                  <a:lnTo>
                    <a:pt x="2829382" y="2276475"/>
                  </a:lnTo>
                  <a:lnTo>
                    <a:pt x="2864104" y="2259342"/>
                  </a:lnTo>
                  <a:lnTo>
                    <a:pt x="2875572" y="2235835"/>
                  </a:lnTo>
                  <a:lnTo>
                    <a:pt x="2876232" y="2232596"/>
                  </a:lnTo>
                  <a:lnTo>
                    <a:pt x="2876550" y="2229307"/>
                  </a:lnTo>
                  <a:lnTo>
                    <a:pt x="2876550" y="47167"/>
                  </a:lnTo>
                  <a:lnTo>
                    <a:pt x="2876232" y="43891"/>
                  </a:lnTo>
                  <a:lnTo>
                    <a:pt x="2875572" y="40640"/>
                  </a:lnTo>
                  <a:lnTo>
                    <a:pt x="2874937" y="37376"/>
                  </a:lnTo>
                  <a:lnTo>
                    <a:pt x="2851353" y="6667"/>
                  </a:lnTo>
                  <a:lnTo>
                    <a:pt x="2832671" y="317"/>
                  </a:lnTo>
                  <a:lnTo>
                    <a:pt x="2829382" y="0"/>
                  </a:lnTo>
                  <a:close/>
                </a:path>
              </a:pathLst>
            </a:custGeom>
            <a:solidFill>
              <a:srgbClr val="FA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58438" y="1266837"/>
              <a:ext cx="2885440" cy="2295525"/>
            </a:xfrm>
            <a:custGeom>
              <a:avLst/>
              <a:gdLst/>
              <a:ahLst/>
              <a:cxnLst/>
              <a:rect l="l" t="t" r="r" b="b"/>
              <a:pathLst>
                <a:path w="2885440" h="2295525">
                  <a:moveTo>
                    <a:pt x="2885186" y="51828"/>
                  </a:moveTo>
                  <a:lnTo>
                    <a:pt x="2883700" y="44399"/>
                  </a:lnTo>
                  <a:lnTo>
                    <a:pt x="2877604" y="29692"/>
                  </a:lnTo>
                  <a:lnTo>
                    <a:pt x="2873273" y="23202"/>
                  </a:lnTo>
                  <a:lnTo>
                    <a:pt x="2868117" y="18059"/>
                  </a:lnTo>
                  <a:lnTo>
                    <a:pt x="2867876" y="17805"/>
                  </a:lnTo>
                  <a:lnTo>
                    <a:pt x="2867660" y="17576"/>
                  </a:lnTo>
                  <a:lnTo>
                    <a:pt x="2862021" y="11950"/>
                  </a:lnTo>
                  <a:lnTo>
                    <a:pt x="2855531" y="7607"/>
                  </a:lnTo>
                  <a:lnTo>
                    <a:pt x="2840952" y="1562"/>
                  </a:lnTo>
                  <a:lnTo>
                    <a:pt x="2841079" y="1562"/>
                  </a:lnTo>
                  <a:lnTo>
                    <a:pt x="28331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825216" y="19050"/>
                  </a:lnTo>
                  <a:lnTo>
                    <a:pt x="2854426" y="31356"/>
                  </a:lnTo>
                  <a:lnTo>
                    <a:pt x="2859430" y="37350"/>
                  </a:lnTo>
                  <a:lnTo>
                    <a:pt x="2863215" y="44399"/>
                  </a:lnTo>
                  <a:lnTo>
                    <a:pt x="2865424" y="51828"/>
                  </a:lnTo>
                  <a:lnTo>
                    <a:pt x="2866174" y="60007"/>
                  </a:lnTo>
                  <a:lnTo>
                    <a:pt x="2866174" y="2235517"/>
                  </a:lnTo>
                  <a:lnTo>
                    <a:pt x="2854617" y="2263952"/>
                  </a:lnTo>
                  <a:lnTo>
                    <a:pt x="2854185" y="2264473"/>
                  </a:lnTo>
                  <a:lnTo>
                    <a:pt x="2825216" y="2276475"/>
                  </a:lnTo>
                  <a:lnTo>
                    <a:pt x="75349" y="2276475"/>
                  </a:lnTo>
                  <a:lnTo>
                    <a:pt x="33007" y="2266848"/>
                  </a:lnTo>
                  <a:lnTo>
                    <a:pt x="1079" y="2234196"/>
                  </a:lnTo>
                  <a:lnTo>
                    <a:pt x="0" y="2230082"/>
                  </a:lnTo>
                  <a:lnTo>
                    <a:pt x="609" y="2234196"/>
                  </a:lnTo>
                  <a:lnTo>
                    <a:pt x="2413" y="2241410"/>
                  </a:lnTo>
                  <a:lnTo>
                    <a:pt x="4864" y="2248204"/>
                  </a:lnTo>
                  <a:lnTo>
                    <a:pt x="4953" y="2248484"/>
                  </a:lnTo>
                  <a:lnTo>
                    <a:pt x="33007" y="2282685"/>
                  </a:lnTo>
                  <a:lnTo>
                    <a:pt x="75349" y="2295525"/>
                  </a:lnTo>
                  <a:lnTo>
                    <a:pt x="2833179" y="2295525"/>
                  </a:lnTo>
                  <a:lnTo>
                    <a:pt x="2840456" y="2294064"/>
                  </a:lnTo>
                  <a:lnTo>
                    <a:pt x="2840647" y="2294064"/>
                  </a:lnTo>
                  <a:lnTo>
                    <a:pt x="2855531" y="2287905"/>
                  </a:lnTo>
                  <a:lnTo>
                    <a:pt x="2862021" y="2283574"/>
                  </a:lnTo>
                  <a:lnTo>
                    <a:pt x="2867647" y="2277948"/>
                  </a:lnTo>
                  <a:lnTo>
                    <a:pt x="2868130" y="2277465"/>
                  </a:lnTo>
                  <a:lnTo>
                    <a:pt x="2873273" y="2272322"/>
                  </a:lnTo>
                  <a:lnTo>
                    <a:pt x="2877604" y="2265832"/>
                  </a:lnTo>
                  <a:lnTo>
                    <a:pt x="2883662" y="2251240"/>
                  </a:lnTo>
                  <a:lnTo>
                    <a:pt x="2885186" y="2243683"/>
                  </a:lnTo>
                  <a:lnTo>
                    <a:pt x="2885186" y="51828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8549" y="1266825"/>
              <a:ext cx="76199" cy="229552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92550" y="1439862"/>
            <a:ext cx="2461895" cy="1912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374552"/>
                </a:solidFill>
                <a:latin typeface="Verdana"/>
                <a:cs typeface="Verdana"/>
              </a:rPr>
              <a:t>Admin</a:t>
            </a:r>
            <a:r>
              <a:rPr sz="1650" spc="-5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Oversight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Marсuз,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admin,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aссeззeз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the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daзhbоard.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He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viewз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all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uзerз,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pозtз,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permiззiоnз.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He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сan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mоdify,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delete,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оr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reaззign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соntent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aсrозз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entire зyзtem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with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full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audit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lоgging.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81024" y="3733800"/>
            <a:ext cx="2905125" cy="2295525"/>
            <a:chOff x="581024" y="3733800"/>
            <a:chExt cx="2905125" cy="2295525"/>
          </a:xfrm>
        </p:grpSpPr>
        <p:sp>
          <p:nvSpPr>
            <p:cNvPr id="18" name="object 18"/>
            <p:cNvSpPr/>
            <p:nvPr/>
          </p:nvSpPr>
          <p:spPr>
            <a:xfrm>
              <a:off x="600074" y="3743325"/>
              <a:ext cx="2876550" cy="2276475"/>
            </a:xfrm>
            <a:custGeom>
              <a:avLst/>
              <a:gdLst/>
              <a:ahLst/>
              <a:cxnLst/>
              <a:rect l="l" t="t" r="r" b="b"/>
              <a:pathLst>
                <a:path w="2876550" h="2276475">
                  <a:moveTo>
                    <a:pt x="2829382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2209801"/>
                  </a:lnTo>
                  <a:lnTo>
                    <a:pt x="0" y="2214176"/>
                  </a:lnTo>
                  <a:lnTo>
                    <a:pt x="15622" y="2250480"/>
                  </a:lnTo>
                  <a:lnTo>
                    <a:pt x="51663" y="2273072"/>
                  </a:lnTo>
                  <a:lnTo>
                    <a:pt x="71194" y="2276476"/>
                  </a:lnTo>
                  <a:lnTo>
                    <a:pt x="2829382" y="2276476"/>
                  </a:lnTo>
                  <a:lnTo>
                    <a:pt x="2864104" y="2259345"/>
                  </a:lnTo>
                  <a:lnTo>
                    <a:pt x="2876550" y="2229307"/>
                  </a:lnTo>
                  <a:lnTo>
                    <a:pt x="2876550" y="47167"/>
                  </a:lnTo>
                  <a:lnTo>
                    <a:pt x="2876232" y="43891"/>
                  </a:lnTo>
                  <a:lnTo>
                    <a:pt x="2875572" y="40640"/>
                  </a:lnTo>
                  <a:lnTo>
                    <a:pt x="2874937" y="37376"/>
                  </a:lnTo>
                  <a:lnTo>
                    <a:pt x="2851353" y="6667"/>
                  </a:lnTo>
                  <a:lnTo>
                    <a:pt x="2832671" y="317"/>
                  </a:lnTo>
                  <a:lnTo>
                    <a:pt x="2829382" y="0"/>
                  </a:lnTo>
                  <a:close/>
                </a:path>
              </a:pathLst>
            </a:custGeom>
            <a:solidFill>
              <a:srgbClr val="FAF9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00913" y="3733812"/>
              <a:ext cx="2885440" cy="2295525"/>
            </a:xfrm>
            <a:custGeom>
              <a:avLst/>
              <a:gdLst/>
              <a:ahLst/>
              <a:cxnLst/>
              <a:rect l="l" t="t" r="r" b="b"/>
              <a:pathLst>
                <a:path w="2885440" h="2295525">
                  <a:moveTo>
                    <a:pt x="2885186" y="51828"/>
                  </a:moveTo>
                  <a:lnTo>
                    <a:pt x="2883700" y="44399"/>
                  </a:lnTo>
                  <a:lnTo>
                    <a:pt x="2877604" y="29692"/>
                  </a:lnTo>
                  <a:lnTo>
                    <a:pt x="2873273" y="23202"/>
                  </a:lnTo>
                  <a:lnTo>
                    <a:pt x="2868117" y="18059"/>
                  </a:lnTo>
                  <a:lnTo>
                    <a:pt x="2867876" y="17805"/>
                  </a:lnTo>
                  <a:lnTo>
                    <a:pt x="2867660" y="17576"/>
                  </a:lnTo>
                  <a:lnTo>
                    <a:pt x="2862021" y="11950"/>
                  </a:lnTo>
                  <a:lnTo>
                    <a:pt x="2855531" y="7607"/>
                  </a:lnTo>
                  <a:lnTo>
                    <a:pt x="2840952" y="1562"/>
                  </a:lnTo>
                  <a:lnTo>
                    <a:pt x="2841079" y="1562"/>
                  </a:lnTo>
                  <a:lnTo>
                    <a:pt x="2833179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2825216" y="19050"/>
                  </a:lnTo>
                  <a:lnTo>
                    <a:pt x="2854426" y="31356"/>
                  </a:lnTo>
                  <a:lnTo>
                    <a:pt x="2859430" y="37350"/>
                  </a:lnTo>
                  <a:lnTo>
                    <a:pt x="2863215" y="44399"/>
                  </a:lnTo>
                  <a:lnTo>
                    <a:pt x="2865424" y="51828"/>
                  </a:lnTo>
                  <a:lnTo>
                    <a:pt x="2866174" y="60007"/>
                  </a:lnTo>
                  <a:lnTo>
                    <a:pt x="2866174" y="2235517"/>
                  </a:lnTo>
                  <a:lnTo>
                    <a:pt x="2847873" y="2269718"/>
                  </a:lnTo>
                  <a:lnTo>
                    <a:pt x="2825216" y="2276475"/>
                  </a:lnTo>
                  <a:lnTo>
                    <a:pt x="75349" y="2276475"/>
                  </a:lnTo>
                  <a:lnTo>
                    <a:pt x="33007" y="2266848"/>
                  </a:lnTo>
                  <a:lnTo>
                    <a:pt x="1092" y="2234184"/>
                  </a:lnTo>
                  <a:lnTo>
                    <a:pt x="0" y="2230069"/>
                  </a:lnTo>
                  <a:lnTo>
                    <a:pt x="609" y="2234184"/>
                  </a:lnTo>
                  <a:lnTo>
                    <a:pt x="2413" y="2241410"/>
                  </a:lnTo>
                  <a:lnTo>
                    <a:pt x="4851" y="2248192"/>
                  </a:lnTo>
                  <a:lnTo>
                    <a:pt x="4953" y="2248484"/>
                  </a:lnTo>
                  <a:lnTo>
                    <a:pt x="33007" y="2282685"/>
                  </a:lnTo>
                  <a:lnTo>
                    <a:pt x="75349" y="2295525"/>
                  </a:lnTo>
                  <a:lnTo>
                    <a:pt x="2833179" y="2295525"/>
                  </a:lnTo>
                  <a:lnTo>
                    <a:pt x="2840469" y="2294064"/>
                  </a:lnTo>
                  <a:lnTo>
                    <a:pt x="2840659" y="2294064"/>
                  </a:lnTo>
                  <a:lnTo>
                    <a:pt x="2855531" y="2287905"/>
                  </a:lnTo>
                  <a:lnTo>
                    <a:pt x="2862021" y="2283574"/>
                  </a:lnTo>
                  <a:lnTo>
                    <a:pt x="2867660" y="2277935"/>
                  </a:lnTo>
                  <a:lnTo>
                    <a:pt x="2868130" y="2277465"/>
                  </a:lnTo>
                  <a:lnTo>
                    <a:pt x="2873273" y="2272322"/>
                  </a:lnTo>
                  <a:lnTo>
                    <a:pt x="2877604" y="2265819"/>
                  </a:lnTo>
                  <a:lnTo>
                    <a:pt x="2883662" y="2251240"/>
                  </a:lnTo>
                  <a:lnTo>
                    <a:pt x="2885186" y="2243683"/>
                  </a:lnTo>
                  <a:lnTo>
                    <a:pt x="2885186" y="51828"/>
                  </a:lnTo>
                  <a:close/>
                </a:path>
              </a:pathLst>
            </a:custGeom>
            <a:solidFill>
              <a:srgbClr val="BED3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4" y="3733800"/>
              <a:ext cx="76199" cy="229552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835025" y="3906837"/>
            <a:ext cx="2424430" cy="19126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70" dirty="0">
                <a:solidFill>
                  <a:srgbClr val="374552"/>
                </a:solidFill>
                <a:latin typeface="Verdana"/>
                <a:cs typeface="Verdana"/>
              </a:rPr>
              <a:t>Viewer</a:t>
            </a:r>
            <a:r>
              <a:rPr sz="1650" spc="-3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Experience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Jeззiсa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lоgз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in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aз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viewer.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She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зeeз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publiзhed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соntent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but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сannоt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mоdify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anything.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The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edit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buttоnз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remain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hidden,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and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API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сallз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tо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mоdify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reзоurсeз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are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rejeсted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by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the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baсkend.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0" dirty="0"/>
              <a:t>Security</a:t>
            </a:r>
            <a:r>
              <a:rPr spc="-125" dirty="0"/>
              <a:t> </a:t>
            </a:r>
            <a:r>
              <a:rPr spc="440" dirty="0"/>
              <a:t>F</a:t>
            </a:r>
            <a:r>
              <a:rPr spc="-120" dirty="0"/>
              <a:t> </a:t>
            </a:r>
            <a:r>
              <a:rPr spc="-180" dirty="0"/>
              <a:t>Testing</a:t>
            </a:r>
          </a:p>
        </p:txBody>
      </p:sp>
      <p:sp>
        <p:nvSpPr>
          <p:cNvPr id="4" name="object 4"/>
          <p:cNvSpPr/>
          <p:nvPr/>
        </p:nvSpPr>
        <p:spPr>
          <a:xfrm>
            <a:off x="638175" y="3086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175" y="3400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175" y="37147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38175" y="4038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38175" y="4352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175" y="4667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7375" y="2516187"/>
            <a:ext cx="2696210" cy="2274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2E3C4E"/>
                </a:solidFill>
                <a:latin typeface="Verdana"/>
                <a:cs typeface="Verdana"/>
              </a:rPr>
              <a:t>Security</a:t>
            </a:r>
            <a:r>
              <a:rPr sz="1650" spc="-25" dirty="0">
                <a:solidFill>
                  <a:srgbClr val="2E3C4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2E3C4E"/>
                </a:solidFill>
                <a:latin typeface="Verdana"/>
                <a:cs typeface="Verdana"/>
              </a:rPr>
              <a:t>Measures</a:t>
            </a:r>
            <a:endParaRPr sz="1650">
              <a:latin typeface="Verdana"/>
              <a:cs typeface="Verdana"/>
            </a:endParaRPr>
          </a:p>
          <a:p>
            <a:pPr marL="286385" marR="5080">
              <a:lnSpc>
                <a:spcPct val="152800"/>
              </a:lnSpc>
              <a:spcBef>
                <a:spcPts val="765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JWT</a:t>
            </a:r>
            <a:r>
              <a:rPr sz="1350" spc="-6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secret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key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management 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HTTPS-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only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token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transmission Token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expiration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&amp;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refresh</a:t>
            </a:r>
            <a:endParaRPr sz="1350">
              <a:latin typeface="Roboto"/>
              <a:cs typeface="Roboto"/>
            </a:endParaRPr>
          </a:p>
          <a:p>
            <a:pPr marL="286385" marR="33020">
              <a:lnSpc>
                <a:spcPct val="152800"/>
              </a:lnSpc>
              <a:spcBef>
                <a:spcPts val="75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Rate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limiting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on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auth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endpoints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CORS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policy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enforcement</a:t>
            </a:r>
            <a:r>
              <a:rPr sz="1350" spc="50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Input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validation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&amp;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sanitization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72175" y="308609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72175" y="34004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72175" y="37147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972175" y="40386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972175" y="4352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972175" y="4667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20930" y="2516187"/>
            <a:ext cx="2720340" cy="2274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95" dirty="0">
                <a:solidFill>
                  <a:srgbClr val="2E3C4E"/>
                </a:solidFill>
                <a:latin typeface="Verdana"/>
                <a:cs typeface="Verdana"/>
              </a:rPr>
              <a:t>Testing</a:t>
            </a:r>
            <a:r>
              <a:rPr sz="1650" spc="-25" dirty="0">
                <a:solidFill>
                  <a:srgbClr val="2E3C4E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2E3C4E"/>
                </a:solidFill>
                <a:latin typeface="Verdana"/>
                <a:cs typeface="Verdana"/>
              </a:rPr>
              <a:t>Strategy</a:t>
            </a:r>
            <a:endParaRPr sz="1650">
              <a:latin typeface="Verdana"/>
              <a:cs typeface="Verdana"/>
            </a:endParaRPr>
          </a:p>
          <a:p>
            <a:pPr marL="286385" marR="5080">
              <a:lnSpc>
                <a:spcPct val="153700"/>
              </a:lnSpc>
              <a:spcBef>
                <a:spcPts val="750"/>
              </a:spcBef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Unit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tests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logic Integration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tests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API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flows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E2E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tests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</a:t>
            </a:r>
            <a:r>
              <a:rPr sz="1350" spc="-3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journeys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Security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audit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for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vulnerabilities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Load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testing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checks Manual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penetration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testing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987425"/>
            <a:ext cx="298259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0" dirty="0"/>
              <a:t>Key</a:t>
            </a:r>
            <a:r>
              <a:rPr spc="-120" dirty="0"/>
              <a:t> </a:t>
            </a:r>
            <a:r>
              <a:rPr spc="-225" dirty="0"/>
              <a:t>Takeaways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886325" y="1800224"/>
            <a:ext cx="2886075" cy="1504950"/>
            <a:chOff x="4886325" y="1800224"/>
            <a:chExt cx="2886075" cy="1504950"/>
          </a:xfrm>
        </p:grpSpPr>
        <p:sp>
          <p:nvSpPr>
            <p:cNvPr id="5" name="object 5"/>
            <p:cNvSpPr/>
            <p:nvPr/>
          </p:nvSpPr>
          <p:spPr>
            <a:xfrm>
              <a:off x="4891087" y="1804987"/>
              <a:ext cx="2876550" cy="1495425"/>
            </a:xfrm>
            <a:custGeom>
              <a:avLst/>
              <a:gdLst/>
              <a:ahLst/>
              <a:cxnLst/>
              <a:rect l="l" t="t" r="r" b="b"/>
              <a:pathLst>
                <a:path w="2876550" h="1495425">
                  <a:moveTo>
                    <a:pt x="2876549" y="0"/>
                  </a:moveTo>
                  <a:lnTo>
                    <a:pt x="338137" y="0"/>
                  </a:lnTo>
                  <a:lnTo>
                    <a:pt x="321526" y="405"/>
                  </a:lnTo>
                  <a:lnTo>
                    <a:pt x="272173" y="6489"/>
                  </a:lnTo>
                  <a:lnTo>
                    <a:pt x="224239" y="19753"/>
                  </a:lnTo>
                  <a:lnTo>
                    <a:pt x="178736" y="39925"/>
                  </a:lnTo>
                  <a:lnTo>
                    <a:pt x="136689" y="66550"/>
                  </a:lnTo>
                  <a:lnTo>
                    <a:pt x="99034" y="99034"/>
                  </a:lnTo>
                  <a:lnTo>
                    <a:pt x="66550" y="136689"/>
                  </a:lnTo>
                  <a:lnTo>
                    <a:pt x="39925" y="178736"/>
                  </a:lnTo>
                  <a:lnTo>
                    <a:pt x="19761" y="224239"/>
                  </a:lnTo>
                  <a:lnTo>
                    <a:pt x="6502" y="272173"/>
                  </a:lnTo>
                  <a:lnTo>
                    <a:pt x="405" y="321526"/>
                  </a:lnTo>
                  <a:lnTo>
                    <a:pt x="0" y="338137"/>
                  </a:lnTo>
                  <a:lnTo>
                    <a:pt x="0" y="1495424"/>
                  </a:lnTo>
                  <a:lnTo>
                    <a:pt x="2538412" y="1495424"/>
                  </a:lnTo>
                  <a:lnTo>
                    <a:pt x="2555023" y="1495017"/>
                  </a:lnTo>
                  <a:lnTo>
                    <a:pt x="2604376" y="1488922"/>
                  </a:lnTo>
                  <a:lnTo>
                    <a:pt x="2652310" y="1475663"/>
                  </a:lnTo>
                  <a:lnTo>
                    <a:pt x="2697808" y="1455499"/>
                  </a:lnTo>
                  <a:lnTo>
                    <a:pt x="2739860" y="1428869"/>
                  </a:lnTo>
                  <a:lnTo>
                    <a:pt x="2777515" y="1396390"/>
                  </a:lnTo>
                  <a:lnTo>
                    <a:pt x="2809994" y="1358733"/>
                  </a:lnTo>
                  <a:lnTo>
                    <a:pt x="2836624" y="1316683"/>
                  </a:lnTo>
                  <a:lnTo>
                    <a:pt x="2856788" y="1271185"/>
                  </a:lnTo>
                  <a:lnTo>
                    <a:pt x="2870047" y="1223251"/>
                  </a:lnTo>
                  <a:lnTo>
                    <a:pt x="2876142" y="1173898"/>
                  </a:lnTo>
                  <a:lnTo>
                    <a:pt x="2876549" y="1157287"/>
                  </a:lnTo>
                  <a:lnTo>
                    <a:pt x="2876549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5849" y="1809750"/>
              <a:ext cx="2867024" cy="14858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891087" y="1804987"/>
              <a:ext cx="2876550" cy="1495425"/>
            </a:xfrm>
            <a:custGeom>
              <a:avLst/>
              <a:gdLst/>
              <a:ahLst/>
              <a:cxnLst/>
              <a:rect l="l" t="t" r="r" b="b"/>
              <a:pathLst>
                <a:path w="2876550" h="1495425">
                  <a:moveTo>
                    <a:pt x="0" y="1495425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9" y="288520"/>
                  </a:lnTo>
                  <a:lnTo>
                    <a:pt x="12244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73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2876550" y="0"/>
                  </a:lnTo>
                  <a:lnTo>
                    <a:pt x="2876550" y="1157287"/>
                  </a:lnTo>
                  <a:lnTo>
                    <a:pt x="2876447" y="1165588"/>
                  </a:lnTo>
                  <a:lnTo>
                    <a:pt x="2872890" y="1206900"/>
                  </a:lnTo>
                  <a:lnTo>
                    <a:pt x="2864305" y="1247468"/>
                  </a:lnTo>
                  <a:lnTo>
                    <a:pt x="2850807" y="1286687"/>
                  </a:lnTo>
                  <a:lnTo>
                    <a:pt x="2832618" y="1323957"/>
                  </a:lnTo>
                  <a:lnTo>
                    <a:pt x="2810002" y="1358712"/>
                  </a:lnTo>
                  <a:lnTo>
                    <a:pt x="2783308" y="1390446"/>
                  </a:lnTo>
                  <a:lnTo>
                    <a:pt x="2752928" y="1418666"/>
                  </a:lnTo>
                  <a:lnTo>
                    <a:pt x="2719312" y="1442964"/>
                  </a:lnTo>
                  <a:lnTo>
                    <a:pt x="2682987" y="1462960"/>
                  </a:lnTo>
                  <a:lnTo>
                    <a:pt x="2644481" y="1478358"/>
                  </a:lnTo>
                  <a:lnTo>
                    <a:pt x="2604376" y="1488922"/>
                  </a:lnTo>
                  <a:lnTo>
                    <a:pt x="2563287" y="1494508"/>
                  </a:lnTo>
                  <a:lnTo>
                    <a:pt x="2538412" y="1495425"/>
                  </a:lnTo>
                  <a:lnTo>
                    <a:pt x="0" y="1495425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054600" y="1963737"/>
            <a:ext cx="2047239" cy="1141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85" dirty="0">
                <a:solidFill>
                  <a:srgbClr val="374552"/>
                </a:solidFill>
                <a:latin typeface="Verdana"/>
                <a:cs typeface="Verdana"/>
              </a:rPr>
              <a:t>Layered</a:t>
            </a:r>
            <a:r>
              <a:rPr sz="1650" spc="-15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Security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RBAC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must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exist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at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API,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database,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UI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layers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for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complete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protection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43850" y="1800224"/>
            <a:ext cx="2886075" cy="1504950"/>
            <a:chOff x="7943850" y="1800224"/>
            <a:chExt cx="2886075" cy="1504950"/>
          </a:xfrm>
        </p:grpSpPr>
        <p:sp>
          <p:nvSpPr>
            <p:cNvPr id="10" name="object 10"/>
            <p:cNvSpPr/>
            <p:nvPr/>
          </p:nvSpPr>
          <p:spPr>
            <a:xfrm>
              <a:off x="7948611" y="1804987"/>
              <a:ext cx="2876550" cy="1495425"/>
            </a:xfrm>
            <a:custGeom>
              <a:avLst/>
              <a:gdLst/>
              <a:ahLst/>
              <a:cxnLst/>
              <a:rect l="l" t="t" r="r" b="b"/>
              <a:pathLst>
                <a:path w="2876550" h="1495425">
                  <a:moveTo>
                    <a:pt x="2876549" y="0"/>
                  </a:moveTo>
                  <a:lnTo>
                    <a:pt x="338137" y="0"/>
                  </a:lnTo>
                  <a:lnTo>
                    <a:pt x="321526" y="405"/>
                  </a:lnTo>
                  <a:lnTo>
                    <a:pt x="272173" y="6489"/>
                  </a:lnTo>
                  <a:lnTo>
                    <a:pt x="224239" y="19753"/>
                  </a:lnTo>
                  <a:lnTo>
                    <a:pt x="178736" y="39925"/>
                  </a:lnTo>
                  <a:lnTo>
                    <a:pt x="136689" y="66550"/>
                  </a:lnTo>
                  <a:lnTo>
                    <a:pt x="99034" y="99034"/>
                  </a:lnTo>
                  <a:lnTo>
                    <a:pt x="66550" y="136689"/>
                  </a:lnTo>
                  <a:lnTo>
                    <a:pt x="39925" y="178736"/>
                  </a:lnTo>
                  <a:lnTo>
                    <a:pt x="19761" y="224239"/>
                  </a:lnTo>
                  <a:lnTo>
                    <a:pt x="6489" y="272173"/>
                  </a:lnTo>
                  <a:lnTo>
                    <a:pt x="405" y="321526"/>
                  </a:lnTo>
                  <a:lnTo>
                    <a:pt x="0" y="338137"/>
                  </a:lnTo>
                  <a:lnTo>
                    <a:pt x="0" y="1495424"/>
                  </a:lnTo>
                  <a:lnTo>
                    <a:pt x="2538412" y="1495424"/>
                  </a:lnTo>
                  <a:lnTo>
                    <a:pt x="2555023" y="1495017"/>
                  </a:lnTo>
                  <a:lnTo>
                    <a:pt x="2604376" y="1488922"/>
                  </a:lnTo>
                  <a:lnTo>
                    <a:pt x="2652310" y="1475663"/>
                  </a:lnTo>
                  <a:lnTo>
                    <a:pt x="2697808" y="1455499"/>
                  </a:lnTo>
                  <a:lnTo>
                    <a:pt x="2739860" y="1428869"/>
                  </a:lnTo>
                  <a:lnTo>
                    <a:pt x="2777515" y="1396390"/>
                  </a:lnTo>
                  <a:lnTo>
                    <a:pt x="2809994" y="1358733"/>
                  </a:lnTo>
                  <a:lnTo>
                    <a:pt x="2836624" y="1316683"/>
                  </a:lnTo>
                  <a:lnTo>
                    <a:pt x="2856788" y="1271185"/>
                  </a:lnTo>
                  <a:lnTo>
                    <a:pt x="2870047" y="1223251"/>
                  </a:lnTo>
                  <a:lnTo>
                    <a:pt x="2876142" y="1173898"/>
                  </a:lnTo>
                  <a:lnTo>
                    <a:pt x="2876549" y="1157287"/>
                  </a:lnTo>
                  <a:lnTo>
                    <a:pt x="2876549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3374" y="1809750"/>
              <a:ext cx="2867024" cy="14858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948612" y="1804987"/>
              <a:ext cx="2876550" cy="1495425"/>
            </a:xfrm>
            <a:custGeom>
              <a:avLst/>
              <a:gdLst/>
              <a:ahLst/>
              <a:cxnLst/>
              <a:rect l="l" t="t" r="r" b="b"/>
              <a:pathLst>
                <a:path w="2876550" h="1495425">
                  <a:moveTo>
                    <a:pt x="0" y="1495425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7" y="288520"/>
                  </a:lnTo>
                  <a:lnTo>
                    <a:pt x="12243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61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2876550" y="0"/>
                  </a:lnTo>
                  <a:lnTo>
                    <a:pt x="2876550" y="1157287"/>
                  </a:lnTo>
                  <a:lnTo>
                    <a:pt x="2876447" y="1165588"/>
                  </a:lnTo>
                  <a:lnTo>
                    <a:pt x="2872890" y="1206900"/>
                  </a:lnTo>
                  <a:lnTo>
                    <a:pt x="2864305" y="1247468"/>
                  </a:lnTo>
                  <a:lnTo>
                    <a:pt x="2850807" y="1286687"/>
                  </a:lnTo>
                  <a:lnTo>
                    <a:pt x="2832618" y="1323957"/>
                  </a:lnTo>
                  <a:lnTo>
                    <a:pt x="2810006" y="1358712"/>
                  </a:lnTo>
                  <a:lnTo>
                    <a:pt x="2783308" y="1390446"/>
                  </a:lnTo>
                  <a:lnTo>
                    <a:pt x="2752928" y="1418666"/>
                  </a:lnTo>
                  <a:lnTo>
                    <a:pt x="2719312" y="1442964"/>
                  </a:lnTo>
                  <a:lnTo>
                    <a:pt x="2682987" y="1462960"/>
                  </a:lnTo>
                  <a:lnTo>
                    <a:pt x="2644481" y="1478358"/>
                  </a:lnTo>
                  <a:lnTo>
                    <a:pt x="2604376" y="1488922"/>
                  </a:lnTo>
                  <a:lnTo>
                    <a:pt x="2563287" y="1494508"/>
                  </a:lnTo>
                  <a:lnTo>
                    <a:pt x="2538412" y="1495425"/>
                  </a:lnTo>
                  <a:lnTo>
                    <a:pt x="0" y="1495425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12125" y="1963737"/>
            <a:ext cx="2376170" cy="1141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65" dirty="0">
                <a:solidFill>
                  <a:srgbClr val="374552"/>
                </a:solidFill>
                <a:latin typeface="Verdana"/>
                <a:cs typeface="Verdana"/>
              </a:rPr>
              <a:t>Ownership</a:t>
            </a:r>
            <a:r>
              <a:rPr sz="1650" spc="-6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Verification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25000"/>
              </a:lnSpc>
              <a:spcBef>
                <a:spcPts val="690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Always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validate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that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users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74552"/>
                </a:solidFill>
                <a:latin typeface="Roboto"/>
                <a:cs typeface="Roboto"/>
              </a:rPr>
              <a:t>own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or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have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to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access resources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886325" y="3476625"/>
            <a:ext cx="5943600" cy="990600"/>
            <a:chOff x="4886325" y="3476625"/>
            <a:chExt cx="5943600" cy="990600"/>
          </a:xfrm>
        </p:grpSpPr>
        <p:sp>
          <p:nvSpPr>
            <p:cNvPr id="15" name="object 15"/>
            <p:cNvSpPr/>
            <p:nvPr/>
          </p:nvSpPr>
          <p:spPr>
            <a:xfrm>
              <a:off x="4891087" y="3481387"/>
              <a:ext cx="5934075" cy="981075"/>
            </a:xfrm>
            <a:custGeom>
              <a:avLst/>
              <a:gdLst/>
              <a:ahLst/>
              <a:cxnLst/>
              <a:rect l="l" t="t" r="r" b="b"/>
              <a:pathLst>
                <a:path w="5934075" h="981075">
                  <a:moveTo>
                    <a:pt x="5934074" y="0"/>
                  </a:moveTo>
                  <a:lnTo>
                    <a:pt x="338137" y="0"/>
                  </a:lnTo>
                  <a:lnTo>
                    <a:pt x="321526" y="405"/>
                  </a:lnTo>
                  <a:lnTo>
                    <a:pt x="272173" y="6489"/>
                  </a:lnTo>
                  <a:lnTo>
                    <a:pt x="224239" y="19753"/>
                  </a:lnTo>
                  <a:lnTo>
                    <a:pt x="178736" y="39925"/>
                  </a:lnTo>
                  <a:lnTo>
                    <a:pt x="136689" y="66550"/>
                  </a:lnTo>
                  <a:lnTo>
                    <a:pt x="99034" y="99034"/>
                  </a:lnTo>
                  <a:lnTo>
                    <a:pt x="66550" y="136689"/>
                  </a:lnTo>
                  <a:lnTo>
                    <a:pt x="39925" y="178736"/>
                  </a:lnTo>
                  <a:lnTo>
                    <a:pt x="19761" y="224239"/>
                  </a:lnTo>
                  <a:lnTo>
                    <a:pt x="6502" y="272173"/>
                  </a:lnTo>
                  <a:lnTo>
                    <a:pt x="405" y="321526"/>
                  </a:lnTo>
                  <a:lnTo>
                    <a:pt x="0" y="338137"/>
                  </a:lnTo>
                  <a:lnTo>
                    <a:pt x="0" y="981074"/>
                  </a:lnTo>
                  <a:lnTo>
                    <a:pt x="5595937" y="981074"/>
                  </a:lnTo>
                  <a:lnTo>
                    <a:pt x="5612548" y="980667"/>
                  </a:lnTo>
                  <a:lnTo>
                    <a:pt x="5661900" y="974572"/>
                  </a:lnTo>
                  <a:lnTo>
                    <a:pt x="5709835" y="961313"/>
                  </a:lnTo>
                  <a:lnTo>
                    <a:pt x="5755333" y="941149"/>
                  </a:lnTo>
                  <a:lnTo>
                    <a:pt x="5797385" y="914519"/>
                  </a:lnTo>
                  <a:lnTo>
                    <a:pt x="5835040" y="882040"/>
                  </a:lnTo>
                  <a:lnTo>
                    <a:pt x="5867519" y="844378"/>
                  </a:lnTo>
                  <a:lnTo>
                    <a:pt x="5894148" y="802333"/>
                  </a:lnTo>
                  <a:lnTo>
                    <a:pt x="5914313" y="756835"/>
                  </a:lnTo>
                  <a:lnTo>
                    <a:pt x="5927572" y="708901"/>
                  </a:lnTo>
                  <a:lnTo>
                    <a:pt x="5933667" y="659548"/>
                  </a:lnTo>
                  <a:lnTo>
                    <a:pt x="5934074" y="642937"/>
                  </a:lnTo>
                  <a:lnTo>
                    <a:pt x="5934074" y="0"/>
                  </a:lnTo>
                  <a:close/>
                </a:path>
              </a:pathLst>
            </a:custGeom>
            <a:solidFill>
              <a:srgbClr val="D9ED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95849" y="3486150"/>
              <a:ext cx="5924549" cy="9715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891087" y="3481387"/>
              <a:ext cx="5934075" cy="981075"/>
            </a:xfrm>
            <a:custGeom>
              <a:avLst/>
              <a:gdLst/>
              <a:ahLst/>
              <a:cxnLst/>
              <a:rect l="l" t="t" r="r" b="b"/>
              <a:pathLst>
                <a:path w="5934075" h="981075">
                  <a:moveTo>
                    <a:pt x="0" y="981075"/>
                  </a:moveTo>
                  <a:lnTo>
                    <a:pt x="0" y="338137"/>
                  </a:lnTo>
                  <a:lnTo>
                    <a:pt x="102" y="329836"/>
                  </a:lnTo>
                  <a:lnTo>
                    <a:pt x="3659" y="288520"/>
                  </a:lnTo>
                  <a:lnTo>
                    <a:pt x="12244" y="247954"/>
                  </a:lnTo>
                  <a:lnTo>
                    <a:pt x="25742" y="208737"/>
                  </a:lnTo>
                  <a:lnTo>
                    <a:pt x="43931" y="171467"/>
                  </a:lnTo>
                  <a:lnTo>
                    <a:pt x="66538" y="136707"/>
                  </a:lnTo>
                  <a:lnTo>
                    <a:pt x="93241" y="104978"/>
                  </a:lnTo>
                  <a:lnTo>
                    <a:pt x="123621" y="76746"/>
                  </a:lnTo>
                  <a:lnTo>
                    <a:pt x="157237" y="52455"/>
                  </a:lnTo>
                  <a:lnTo>
                    <a:pt x="193562" y="32464"/>
                  </a:lnTo>
                  <a:lnTo>
                    <a:pt x="232068" y="17072"/>
                  </a:lnTo>
                  <a:lnTo>
                    <a:pt x="272173" y="6489"/>
                  </a:lnTo>
                  <a:lnTo>
                    <a:pt x="313262" y="916"/>
                  </a:lnTo>
                  <a:lnTo>
                    <a:pt x="338137" y="0"/>
                  </a:lnTo>
                  <a:lnTo>
                    <a:pt x="5934075" y="0"/>
                  </a:lnTo>
                  <a:lnTo>
                    <a:pt x="5934075" y="642937"/>
                  </a:lnTo>
                  <a:lnTo>
                    <a:pt x="5933972" y="651238"/>
                  </a:lnTo>
                  <a:lnTo>
                    <a:pt x="5930415" y="692548"/>
                  </a:lnTo>
                  <a:lnTo>
                    <a:pt x="5921830" y="733118"/>
                  </a:lnTo>
                  <a:lnTo>
                    <a:pt x="5908332" y="772337"/>
                  </a:lnTo>
                  <a:lnTo>
                    <a:pt x="5890143" y="809607"/>
                  </a:lnTo>
                  <a:lnTo>
                    <a:pt x="5867531" y="844362"/>
                  </a:lnTo>
                  <a:lnTo>
                    <a:pt x="5840833" y="876096"/>
                  </a:lnTo>
                  <a:lnTo>
                    <a:pt x="5810453" y="904316"/>
                  </a:lnTo>
                  <a:lnTo>
                    <a:pt x="5776837" y="928614"/>
                  </a:lnTo>
                  <a:lnTo>
                    <a:pt x="5740512" y="948610"/>
                  </a:lnTo>
                  <a:lnTo>
                    <a:pt x="5702006" y="964008"/>
                  </a:lnTo>
                  <a:lnTo>
                    <a:pt x="5661901" y="974572"/>
                  </a:lnTo>
                  <a:lnTo>
                    <a:pt x="5620812" y="980158"/>
                  </a:lnTo>
                  <a:lnTo>
                    <a:pt x="5595937" y="981075"/>
                  </a:lnTo>
                  <a:lnTo>
                    <a:pt x="0" y="981075"/>
                  </a:lnTo>
                  <a:close/>
                </a:path>
              </a:pathLst>
            </a:custGeom>
            <a:ln w="9525">
              <a:solidFill>
                <a:srgbClr val="BED3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4873625" y="3640137"/>
            <a:ext cx="5663565" cy="1769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35"/>
              </a:spcBef>
            </a:pPr>
            <a:r>
              <a:rPr sz="1650" spc="-60" dirty="0">
                <a:solidFill>
                  <a:srgbClr val="374552"/>
                </a:solidFill>
                <a:latin typeface="Verdana"/>
                <a:cs typeface="Verdana"/>
              </a:rPr>
              <a:t>Scalable</a:t>
            </a:r>
            <a:r>
              <a:rPr sz="1650" spc="-80" dirty="0">
                <a:solidFill>
                  <a:srgbClr val="374552"/>
                </a:solidFill>
                <a:latin typeface="Verdana"/>
                <a:cs typeface="Verdana"/>
              </a:rPr>
              <a:t> </a:t>
            </a:r>
            <a:r>
              <a:rPr sz="1650" spc="-10" dirty="0">
                <a:solidFill>
                  <a:srgbClr val="374552"/>
                </a:solidFill>
                <a:latin typeface="Verdana"/>
                <a:cs typeface="Verdana"/>
              </a:rPr>
              <a:t>Design</a:t>
            </a:r>
            <a:endParaRPr sz="1650">
              <a:latin typeface="Verdana"/>
              <a:cs typeface="Verdana"/>
            </a:endParaRPr>
          </a:p>
          <a:p>
            <a:pPr marL="193675">
              <a:lnSpc>
                <a:spcPct val="100000"/>
              </a:lnSpc>
              <a:spcBef>
                <a:spcPts val="1095"/>
              </a:spcBef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Build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permission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systems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that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grow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with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your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application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</a:t>
            </a:r>
            <a:r>
              <a:rPr sz="1350" spc="-4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base</a:t>
            </a: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350">
              <a:latin typeface="Roboto"/>
              <a:cs typeface="Roboto"/>
            </a:endParaRPr>
          </a:p>
          <a:p>
            <a:pPr marL="12700" marR="34290">
              <a:lnSpc>
                <a:spcPct val="125000"/>
              </a:lnSpc>
            </a:pP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Implementing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fine-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grained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RBAC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in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MERN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applications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protects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data, ensures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compliance,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builds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trust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with</a:t>
            </a:r>
            <a:r>
              <a:rPr sz="1350" spc="-6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your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users.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Start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with</a:t>
            </a:r>
            <a:r>
              <a:rPr sz="1350" spc="-5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clear permission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matrices,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test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thoroughly,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and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audit</a:t>
            </a:r>
            <a:r>
              <a:rPr sz="1350" spc="-3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regularly.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9565" y="1492250"/>
            <a:ext cx="2161540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35" dirty="0"/>
              <a:t>Conclusion</a:t>
            </a:r>
          </a:p>
        </p:txBody>
      </p:sp>
      <p:sp>
        <p:nvSpPr>
          <p:cNvPr id="4" name="object 4"/>
          <p:cNvSpPr/>
          <p:nvPr/>
        </p:nvSpPr>
        <p:spPr>
          <a:xfrm>
            <a:off x="4924425" y="24193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24425" y="3000374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72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72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24425" y="35718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24425" y="388620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24425" y="44672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24425" y="4781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3745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87350">
              <a:lnSpc>
                <a:spcPct val="125000"/>
              </a:lnSpc>
              <a:spcBef>
                <a:spcPts val="100"/>
              </a:spcBef>
            </a:pPr>
            <a:r>
              <a:rPr spc="-20" dirty="0"/>
              <a:t>Successfully</a:t>
            </a:r>
            <a:r>
              <a:rPr spc="-10" dirty="0"/>
              <a:t> </a:t>
            </a:r>
            <a:r>
              <a:rPr dirty="0"/>
              <a:t>implemented</a:t>
            </a:r>
            <a:r>
              <a:rPr spc="-5" dirty="0"/>
              <a:t> </a:t>
            </a:r>
            <a:r>
              <a:rPr b="1" spc="-20" dirty="0">
                <a:latin typeface="Roboto"/>
                <a:cs typeface="Roboto"/>
              </a:rPr>
              <a:t>fine-</a:t>
            </a:r>
            <a:r>
              <a:rPr b="1" dirty="0">
                <a:latin typeface="Roboto"/>
                <a:cs typeface="Roboto"/>
              </a:rPr>
              <a:t>grained</a:t>
            </a:r>
            <a:r>
              <a:rPr b="1" spc="-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Role-</a:t>
            </a:r>
            <a:r>
              <a:rPr b="1" dirty="0">
                <a:latin typeface="Roboto"/>
                <a:cs typeface="Roboto"/>
              </a:rPr>
              <a:t>Based</a:t>
            </a:r>
            <a:r>
              <a:rPr b="1" spc="-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Access</a:t>
            </a:r>
            <a:r>
              <a:rPr b="1" spc="-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Control </a:t>
            </a:r>
            <a:r>
              <a:rPr b="1" dirty="0">
                <a:latin typeface="Roboto"/>
                <a:cs typeface="Roboto"/>
              </a:rPr>
              <a:t>(RBAC)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dirty="0"/>
              <a:t>in</a:t>
            </a:r>
            <a:r>
              <a:rPr spc="-20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MERN</a:t>
            </a:r>
            <a:r>
              <a:rPr spc="-20" dirty="0"/>
              <a:t> </a:t>
            </a:r>
            <a:r>
              <a:rPr spc="-10" dirty="0"/>
              <a:t>application.</a:t>
            </a:r>
          </a:p>
          <a:p>
            <a:pPr marL="12700" marR="725805">
              <a:lnSpc>
                <a:spcPct val="125000"/>
              </a:lnSpc>
              <a:spcBef>
                <a:spcPts val="525"/>
              </a:spcBef>
            </a:pPr>
            <a:r>
              <a:rPr b="1" dirty="0">
                <a:latin typeface="Roboto"/>
                <a:cs typeface="Roboto"/>
              </a:rPr>
              <a:t>Admin,</a:t>
            </a:r>
            <a:r>
              <a:rPr b="1" spc="-25" dirty="0">
                <a:latin typeface="Roboto"/>
                <a:cs typeface="Roboto"/>
              </a:rPr>
              <a:t> Editor, </a:t>
            </a:r>
            <a:r>
              <a:rPr b="1" dirty="0">
                <a:latin typeface="Roboto"/>
                <a:cs typeface="Roboto"/>
              </a:rPr>
              <a:t>and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Viewer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roles</a:t>
            </a:r>
            <a:r>
              <a:rPr b="1" spc="-20" dirty="0">
                <a:latin typeface="Roboto"/>
                <a:cs typeface="Roboto"/>
              </a:rPr>
              <a:t> </a:t>
            </a:r>
            <a:r>
              <a:rPr spc="-10" dirty="0"/>
              <a:t>control</a:t>
            </a:r>
            <a:r>
              <a:rPr spc="-20" dirty="0"/>
              <a:t> </a:t>
            </a:r>
            <a:r>
              <a:rPr dirty="0"/>
              <a:t>both</a:t>
            </a:r>
            <a:r>
              <a:rPr spc="-25" dirty="0"/>
              <a:t> </a:t>
            </a:r>
            <a:r>
              <a:rPr dirty="0"/>
              <a:t>API</a:t>
            </a:r>
            <a:r>
              <a:rPr spc="-20" dirty="0"/>
              <a:t> </a:t>
            </a:r>
            <a:r>
              <a:rPr dirty="0"/>
              <a:t>actions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UI </a:t>
            </a:r>
            <a:r>
              <a:rPr spc="-10" dirty="0"/>
              <a:t>capabilities.</a:t>
            </a: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b="1" spc="-55" dirty="0">
                <a:latin typeface="Roboto"/>
                <a:cs typeface="Roboto"/>
              </a:rPr>
              <a:t>JWT-</a:t>
            </a:r>
            <a:r>
              <a:rPr b="1" dirty="0">
                <a:latin typeface="Roboto"/>
                <a:cs typeface="Roboto"/>
              </a:rPr>
              <a:t>based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authentication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spc="-10" dirty="0"/>
              <a:t>ensures</a:t>
            </a:r>
            <a:r>
              <a:rPr spc="-20" dirty="0"/>
              <a:t> </a:t>
            </a:r>
            <a:r>
              <a:rPr spc="-10" dirty="0"/>
              <a:t>secure</a:t>
            </a:r>
            <a:r>
              <a:rPr spc="-20" dirty="0"/>
              <a:t> </a:t>
            </a:r>
            <a:r>
              <a:rPr dirty="0"/>
              <a:t>access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role</a:t>
            </a:r>
            <a:r>
              <a:rPr spc="-20" dirty="0"/>
              <a:t> </a:t>
            </a:r>
            <a:r>
              <a:rPr spc="-10" dirty="0"/>
              <a:t>enforcement.</a:t>
            </a:r>
          </a:p>
          <a:p>
            <a:pPr marL="12700" marR="972185">
              <a:lnSpc>
                <a:spcPct val="125000"/>
              </a:lnSpc>
              <a:spcBef>
                <a:spcPts val="450"/>
              </a:spcBef>
            </a:pPr>
            <a:r>
              <a:rPr b="1" dirty="0">
                <a:latin typeface="Roboto"/>
                <a:cs typeface="Roboto"/>
              </a:rPr>
              <a:t>Ownership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and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permission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checks</a:t>
            </a:r>
            <a:r>
              <a:rPr b="1" spc="-40" dirty="0">
                <a:latin typeface="Roboto"/>
                <a:cs typeface="Roboto"/>
              </a:rPr>
              <a:t> </a:t>
            </a:r>
            <a:r>
              <a:rPr dirty="0"/>
              <a:t>implemented</a:t>
            </a:r>
            <a:r>
              <a:rPr spc="-30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backend (Express/MongoDB)</a:t>
            </a:r>
            <a:r>
              <a:rPr spc="-3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frontend</a:t>
            </a:r>
            <a:r>
              <a:rPr spc="-30" dirty="0"/>
              <a:t> </a:t>
            </a:r>
            <a:r>
              <a:rPr spc="-10" dirty="0"/>
              <a:t>(React).</a:t>
            </a:r>
          </a:p>
          <a:p>
            <a:pPr marL="12700" marR="758190">
              <a:lnSpc>
                <a:spcPct val="152800"/>
              </a:lnSpc>
              <a:spcBef>
                <a:spcPts val="75"/>
              </a:spcBef>
            </a:pPr>
            <a:r>
              <a:rPr dirty="0"/>
              <a:t>Admin</a:t>
            </a:r>
            <a:r>
              <a:rPr spc="-35" dirty="0"/>
              <a:t> </a:t>
            </a:r>
            <a:r>
              <a:rPr dirty="0"/>
              <a:t>panel</a:t>
            </a:r>
            <a:r>
              <a:rPr spc="-30" dirty="0"/>
              <a:t> </a:t>
            </a:r>
            <a:r>
              <a:rPr dirty="0"/>
              <a:t>allows</a:t>
            </a:r>
            <a:r>
              <a:rPr spc="-30" dirty="0"/>
              <a:t> </a:t>
            </a:r>
            <a:r>
              <a:rPr b="1" dirty="0">
                <a:latin typeface="Roboto"/>
                <a:cs typeface="Roboto"/>
              </a:rPr>
              <a:t>user</a:t>
            </a:r>
            <a:r>
              <a:rPr b="1" spc="-30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management</a:t>
            </a:r>
            <a:r>
              <a:rPr b="1" spc="-3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and</a:t>
            </a:r>
            <a:r>
              <a:rPr b="1" spc="-25" dirty="0">
                <a:latin typeface="Roboto"/>
                <a:cs typeface="Roboto"/>
              </a:rPr>
              <a:t> </a:t>
            </a:r>
            <a:r>
              <a:rPr b="1" dirty="0">
                <a:latin typeface="Roboto"/>
                <a:cs typeface="Roboto"/>
              </a:rPr>
              <a:t>role</a:t>
            </a:r>
            <a:r>
              <a:rPr b="1" spc="-3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assignments</a:t>
            </a:r>
            <a:r>
              <a:rPr spc="-10" dirty="0"/>
              <a:t>. Result: </a:t>
            </a:r>
            <a:r>
              <a:rPr b="1" dirty="0">
                <a:latin typeface="Roboto"/>
                <a:cs typeface="Roboto"/>
              </a:rPr>
              <a:t>secure,</a:t>
            </a:r>
            <a:r>
              <a:rPr b="1" spc="-1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maintainable, </a:t>
            </a:r>
            <a:r>
              <a:rPr b="1" dirty="0">
                <a:latin typeface="Roboto"/>
                <a:cs typeface="Roboto"/>
              </a:rPr>
              <a:t>and</a:t>
            </a:r>
            <a:r>
              <a:rPr b="1" spc="-10" dirty="0">
                <a:latin typeface="Roboto"/>
                <a:cs typeface="Roboto"/>
              </a:rPr>
              <a:t> </a:t>
            </a:r>
            <a:r>
              <a:rPr b="1" spc="-20" dirty="0">
                <a:latin typeface="Roboto"/>
                <a:cs typeface="Roboto"/>
              </a:rPr>
              <a:t>user-role-</a:t>
            </a:r>
            <a:r>
              <a:rPr b="1" dirty="0">
                <a:latin typeface="Roboto"/>
                <a:cs typeface="Roboto"/>
              </a:rPr>
              <a:t>driven</a:t>
            </a:r>
            <a:r>
              <a:rPr b="1" spc="-5" dirty="0">
                <a:latin typeface="Roboto"/>
                <a:cs typeface="Roboto"/>
              </a:rPr>
              <a:t> </a:t>
            </a:r>
            <a:r>
              <a:rPr b="1" spc="-10" dirty="0">
                <a:latin typeface="Roboto"/>
                <a:cs typeface="Roboto"/>
              </a:rPr>
              <a:t>application</a:t>
            </a:r>
            <a:r>
              <a:rPr spc="-1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09308" y="1997075"/>
            <a:ext cx="2663825" cy="15074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95" algn="ctr">
              <a:lnSpc>
                <a:spcPct val="100000"/>
              </a:lnSpc>
              <a:spcBef>
                <a:spcPts val="125"/>
              </a:spcBef>
            </a:pPr>
            <a:r>
              <a:rPr spc="-75" dirty="0"/>
              <a:t>Thankyou</a:t>
            </a:r>
          </a:p>
          <a:p>
            <a:pPr marL="12700" marR="5080" indent="-17780" algn="ctr">
              <a:lnSpc>
                <a:spcPct val="222200"/>
              </a:lnSpc>
              <a:spcBef>
                <a:spcPts val="425"/>
              </a:spcBef>
              <a:tabLst>
                <a:tab pos="1279525" algn="l"/>
                <a:tab pos="1313815" algn="l"/>
              </a:tabLst>
            </a:pP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Name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: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Akshat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	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UID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: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23BAI70667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Name</a:t>
            </a:r>
            <a:r>
              <a:rPr sz="1350" spc="31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:</a:t>
            </a:r>
            <a:r>
              <a:rPr sz="1350" spc="-1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74552"/>
                </a:solidFill>
                <a:latin typeface="Roboto"/>
                <a:cs typeface="Roboto"/>
              </a:rPr>
              <a:t>Vivan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		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UID</a:t>
            </a:r>
            <a:r>
              <a:rPr sz="1350" spc="-50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74552"/>
                </a:solidFill>
                <a:latin typeface="Roboto"/>
                <a:cs typeface="Roboto"/>
              </a:rPr>
              <a:t>:</a:t>
            </a:r>
            <a:r>
              <a:rPr sz="1350" spc="-45" dirty="0">
                <a:solidFill>
                  <a:srgbClr val="374552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74552"/>
                </a:solidFill>
                <a:latin typeface="Roboto"/>
                <a:cs typeface="Roboto"/>
              </a:rPr>
              <a:t>23BAI70146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Fine-Grained RBAC in MERN</vt:lpstr>
      <vt:lpstr>The Challenge</vt:lpstr>
      <vt:lpstr>Our Mission</vt:lpstr>
      <vt:lpstr>Core Features</vt:lpstr>
      <vt:lpstr>System Architecture</vt:lpstr>
      <vt:lpstr>JWT Authentication Flow</vt:lpstr>
      <vt:lpstr>Permission Matrix</vt:lpstr>
      <vt:lpstr>Real-World Use Cases</vt:lpstr>
      <vt:lpstr>Security F Testing</vt:lpstr>
      <vt:lpstr>Key Takeaways</vt:lpstr>
      <vt:lpstr>Conclusion</vt:lpstr>
      <vt:lpstr>Thankyou Name : Akshat UID : 23BAI70667 Name : Vivan  UID : 23BAI70146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revision>7</cp:revision>
  <dcterms:created xsi:type="dcterms:W3CDTF">2025-11-10T13:33:29Z</dcterms:created>
  <dcterms:modified xsi:type="dcterms:W3CDTF">2025-11-10T13:34:51Z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2025-11-10T00:00:00Z</vt:filetime>
  </property>
  <property fmtid="{D5CDD505-2E9C-101B-9397-08002B2CF9AE}" pid="5" name="Producer">
    <vt:lpwstr>GPL Ghostscript 9.56.1</vt:lpwstr>
  </property>
</Properties>
</file>